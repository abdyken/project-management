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1137cc9f4d46e0" /><Relationship Type="http://schemas.openxmlformats.org/officeDocument/2006/relationships/extended-properties" Target="/docProps/app.xml" Id="Radc3ca06581b4c43" /><Relationship Type="http://schemas.openxmlformats.org/officeDocument/2006/relationships/officeDocument" Target="/ppt/presentation.xml" Id="R5f4c11073d734520" /></Relationships>
</file>

<file path=ppt/presentation.xml><?xml version="1.0" encoding="utf-8"?>
<p:presentation xmlns:p="http://schemas.openxmlformats.org/presentationml/2006/main">
  <p:sldMasterIdLst>
    <p:sldMasterId xmlns:r="http://schemas.openxmlformats.org/officeDocument/2006/relationships" id="2147483648" r:id="Rc9a490b54edc4a47"/>
  </p:sldMasterIdLst>
  <p:notesMasterIdLst>
    <p:notesMasterId xmlns:r="http://schemas.openxmlformats.org/officeDocument/2006/relationships" r:id="Rf574b929f08c4bf5"/>
  </p:notesMasterIdLst>
  <p:sldIdLst>
    <p:sldId xmlns:r="http://schemas.openxmlformats.org/officeDocument/2006/relationships" id="256" r:id="R8fea2f256fb945dd"/>
    <p:sldId xmlns:r="http://schemas.openxmlformats.org/officeDocument/2006/relationships" id="257" r:id="R8ae002fee8d44b22"/>
    <p:sldId xmlns:r="http://schemas.openxmlformats.org/officeDocument/2006/relationships" id="258" r:id="Rb66d9618c4ea4760"/>
    <p:sldId xmlns:r="http://schemas.openxmlformats.org/officeDocument/2006/relationships" id="259" r:id="R6ee22f8eb97b4070"/>
    <p:sldId xmlns:r="http://schemas.openxmlformats.org/officeDocument/2006/relationships" id="260" r:id="Rcec0d993f3424353"/>
    <p:sldId xmlns:r="http://schemas.openxmlformats.org/officeDocument/2006/relationships" id="261" r:id="R8b8bd6ca67fe463f"/>
    <p:sldId xmlns:r="http://schemas.openxmlformats.org/officeDocument/2006/relationships" id="262" r:id="Rd7196512541f4370"/>
    <p:sldId xmlns:r="http://schemas.openxmlformats.org/officeDocument/2006/relationships" id="263" r:id="R98bb82d922494c7a"/>
    <p:sldId xmlns:r="http://schemas.openxmlformats.org/officeDocument/2006/relationships" id="264" r:id="R7222f4cbc08843e9"/>
    <p:sldId xmlns:r="http://schemas.openxmlformats.org/officeDocument/2006/relationships" id="265" r:id="R46d7b830c7104e4e"/>
    <p:sldId xmlns:r="http://schemas.openxmlformats.org/officeDocument/2006/relationships" id="266" r:id="R9cdb8e4923984b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b97297572b4cd8" /><Relationship Type="http://schemas.openxmlformats.org/officeDocument/2006/relationships/slideMaster" Target="/ppt/slideMasters/slideMaster1.xml" Id="Rc9a490b54edc4a47" /><Relationship Type="http://schemas.openxmlformats.org/officeDocument/2006/relationships/notesMaster" Target="/ppt/notesMasters/notesMaster1.xml" Id="Rf574b929f08c4bf5" /><Relationship Type="http://schemas.openxmlformats.org/officeDocument/2006/relationships/presProps" Target="/ppt/presProps.xml" Id="R34a8e61df4e142cc" /><Relationship Type="http://schemas.openxmlformats.org/officeDocument/2006/relationships/tableStyles" Target="/ppt/tableStyles.xml" Id="R9cebbf71edfb434e" /><Relationship Type="http://schemas.openxmlformats.org/officeDocument/2006/relationships/slide" Target="/ppt/slides/slide1.xml" Id="R8fea2f256fb945dd" /><Relationship Type="http://schemas.openxmlformats.org/officeDocument/2006/relationships/slide" Target="/ppt/slides/slide2.xml" Id="R8ae002fee8d44b22" /><Relationship Type="http://schemas.openxmlformats.org/officeDocument/2006/relationships/slide" Target="/ppt/slides/slide3.xml" Id="Rb66d9618c4ea4760" /><Relationship Type="http://schemas.openxmlformats.org/officeDocument/2006/relationships/slide" Target="/ppt/slides/slide4.xml" Id="R6ee22f8eb97b4070" /><Relationship Type="http://schemas.openxmlformats.org/officeDocument/2006/relationships/slide" Target="/ppt/slides/slide5.xml" Id="Rcec0d993f3424353" /><Relationship Type="http://schemas.openxmlformats.org/officeDocument/2006/relationships/slide" Target="/ppt/slides/slide6.xml" Id="R8b8bd6ca67fe463f" /><Relationship Type="http://schemas.openxmlformats.org/officeDocument/2006/relationships/slide" Target="/ppt/slides/slide7.xml" Id="Rd7196512541f4370" /><Relationship Type="http://schemas.openxmlformats.org/officeDocument/2006/relationships/slide" Target="/ppt/slides/slide8.xml" Id="R98bb82d922494c7a" /><Relationship Type="http://schemas.openxmlformats.org/officeDocument/2006/relationships/slide" Target="/ppt/slides/slide9.xml" Id="R7222f4cbc08843e9" /><Relationship Type="http://schemas.openxmlformats.org/officeDocument/2006/relationships/slide" Target="/ppt/slides/slide10.xml" Id="R46d7b830c7104e4e" /><Relationship Type="http://schemas.openxmlformats.org/officeDocument/2006/relationships/slide" Target="/ppt/slides/slide11.xml" Id="R9cdb8e4923984b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10707ebb6f4b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d9f734e3fc4066" /><Relationship Type="http://schemas.openxmlformats.org/officeDocument/2006/relationships/notesMaster" Target="/ppt/notesMasters/notesMaster1.xml" Id="Rc1e33bf3eee540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76497207734bef" /><Relationship Type="http://schemas.openxmlformats.org/officeDocument/2006/relationships/notesMaster" Target="/ppt/notesMasters/notesMaster1.xml" Id="R9046f65ee01f4b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46fb3cbd574bd6" /><Relationship Type="http://schemas.openxmlformats.org/officeDocument/2006/relationships/notesMaster" Target="/ppt/notesMasters/notesMaster1.xml" Id="R42a3d55ab70d47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654f130e304f0c" /><Relationship Type="http://schemas.openxmlformats.org/officeDocument/2006/relationships/notesMaster" Target="/ppt/notesMasters/notesMaster1.xml" Id="Re878a2a49f2142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d49ffa08f14032" /><Relationship Type="http://schemas.openxmlformats.org/officeDocument/2006/relationships/notesMaster" Target="/ppt/notesMasters/notesMaster1.xml" Id="Rfc3becefe1174a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e823fad33b435e" /><Relationship Type="http://schemas.openxmlformats.org/officeDocument/2006/relationships/notesMaster" Target="/ppt/notesMasters/notesMaster1.xml" Id="Rdb3e72e8198d48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10707244d442fb" /><Relationship Type="http://schemas.openxmlformats.org/officeDocument/2006/relationships/notesMaster" Target="/ppt/notesMasters/notesMaster1.xml" Id="Raece63a35b6442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ffacc08f554171" /><Relationship Type="http://schemas.openxmlformats.org/officeDocument/2006/relationships/notesMaster" Target="/ppt/notesMasters/notesMaster1.xml" Id="R57b2941d81b84b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f075c6eb6449fe" /><Relationship Type="http://schemas.openxmlformats.org/officeDocument/2006/relationships/notesMaster" Target="/ppt/notesMasters/notesMaster1.xml" Id="R206a350e2d9349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e846cad7754faf" /><Relationship Type="http://schemas.openxmlformats.org/officeDocument/2006/relationships/notesMaster" Target="/ppt/notesMasters/notesMaster1.xml" Id="R5db00333da9e4e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152ae8ca5849cd" /><Relationship Type="http://schemas.openxmlformats.org/officeDocument/2006/relationships/notesMaster" Target="/ppt/notesMasters/notesMaster1.xml" Id="Rb7c7e702c1ef48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Sprint 6 adds practical planning and personal help to the existing SDU catalogue, comparison, assistant and account features. This deck describes implementation and recorded local verification; live acceptance remains open.</a:t>
            </a:r>
          </a:p>
          <a:p xmlns:a="http://schemas.openxmlformats.org/drawingml/2006/main">
            <a:r>
              <a:t/>
            </a:r>
          </a:p>
          <a:p xmlns:a="http://schemas.openxmlformats.org/drawingml/2006/main">
            <a:r>
              <a:t>[Sources]</a:t>
            </a:r>
          </a:p>
          <a:p xmlns:a="http://schemas.openxmlformats.org/drawingml/2006/main">
            <a:r>
              <a:t>- Project source: docs/sprint-6-review.md (implementation / local QA record, 29 October 2026).</a:t>
            </a:r>
          </a:p>
          <a:p xmlns:a="http://schemas.openxmlformats.org/drawingml/2006/main">
            <a:r>
              <a:t>- Project source: docs/sprint-6-tasks.md (scope and story contacts).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sprint builds on Sprints 1–5. The five user stories are implemented; no story is presented as accepted by the Product Owner. Uploads, online application forms and application-status processing remain outside this sprint.</a:t>
            </a:r>
          </a:p>
          <a:p xmlns:a="http://schemas.openxmlformats.org/drawingml/2006/main">
            <a:r>
              <a:t/>
            </a:r>
          </a:p>
          <a:p xmlns:a="http://schemas.openxmlformats.org/drawingml/2006/main">
            <a:r>
              <a:t>[Sources]</a:t>
            </a:r>
          </a:p>
          <a:p xmlns:a="http://schemas.openxmlformats.org/drawingml/2006/main">
            <a:r>
              <a:t>- Project source: docs/sprint-6-review.md (implementation / local QA record, 29 October 2026).</a:t>
            </a:r>
          </a:p>
          <a:p xmlns:a="http://schemas.openxmlformats.org/drawingml/2006/main">
            <a:r>
              <a:t>- Project source: docs/sprint-6-tasks.md (scope and story contacts).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Eligibility supports applicant category, previous education, paid/grant basis, published subject combinations, academic results and accepted certificate alternatives. Known failed applicable rules are distinct from missing evidence. Only office-confirmed complete routes can produce a positive overall result; the seed deliberately declares no route complete. The screenshot uses 6B06102 with UNT 50, Mathematics–Informatics and an accepted SDU English alternative; full route confirmation remains outstanding.</a:t>
            </a:r>
          </a:p>
          <a:p xmlns:a="http://schemas.openxmlformats.org/drawingml/2006/main">
            <a:r>
              <a:t/>
            </a:r>
          </a:p>
          <a:p xmlns:a="http://schemas.openxmlformats.org/drawingml/2006/main">
            <a:r>
              <a:t>[Sources]</a:t>
            </a:r>
          </a:p>
          <a:p xmlns:a="http://schemas.openxmlformats.org/drawingml/2006/main">
            <a:r>
              <a:t>- Project source: backend/docs/api/guidance.md.</a:t>
            </a:r>
          </a:p>
          <a:p xmlns:a="http://schemas.openxmlformats.org/drawingml/2006/main">
            <a:r>
              <a:t>- Project source: docs/sprint-6-data-review.md and backend/app/data/guidance.json.</a:t>
            </a:r>
          </a:p>
          <a:p xmlns:a="http://schemas.openxmlformats.org/drawingml/2006/main">
            <a:r>
              <a:t>- Project source: docs/sprint-6-review.md (implementation / local QA record, 29 October 2026).</a:t>
            </a:r>
          </a:p>
          <a:p xmlns:a="http://schemas.openxmlformats.org/drawingml/2006/main">
            <a:r>
              <a:t>- Product asset: read-only local /eligibility screenshot captured 29 October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calculation recorded and verified locally: 20 × 33,000 = 660,000 KZT, plus 10 × 19,000 = 190,000 KZT, giving 850,000 KZT. These are the sprint snapshot rates. The calculator supports KZT/USD and language-specific tariffs, requires an actual credit split and returns a partial known subtotal when a required tariff is missing. It excludes future increases, funding and non-tuition expenses; this is not a binding whole-degree price.</a:t>
            </a:r>
          </a:p>
          <a:p xmlns:a="http://schemas.openxmlformats.org/drawingml/2006/main">
            <a:r>
              <a:t/>
            </a:r>
          </a:p>
          <a:p xmlns:a="http://schemas.openxmlformats.org/drawingml/2006/main">
            <a:r>
              <a:t>[Sources]</a:t>
            </a:r>
          </a:p>
          <a:p xmlns:a="http://schemas.openxmlformats.org/drawingml/2006/main">
            <a:r>
              <a:t>- Project source: backend/docs/api/guidance.md.</a:t>
            </a:r>
          </a:p>
          <a:p xmlns:a="http://schemas.openxmlformats.org/drawingml/2006/main">
            <a:r>
              <a:t>- Project source: docs/sprint-6-review.md (implementation / local QA record, 29 October 2026).</a:t>
            </a:r>
          </a:p>
          <a:p xmlns:a="http://schemas.openxmlformats.org/drawingml/2006/main">
            <a:r>
              <a:t>- Project source: docs/sprint-6-data-review.md and backend/app/data/guidance.json.</a:t>
            </a:r>
          </a:p>
          <a:p xmlns:a="http://schemas.openxmlformats.org/drawingml/2006/main">
            <a:r>
              <a:t>- Product asset: read-only local /cost-calculator screenshot captured 29 October 2026.</a:t>
            </a:r>
          </a:p>
          <a:p xmlns:a="http://schemas.openxmlformats.org/drawingml/2006/main">
            <a:r>
              <a:t>- Official source cited by the implementation: https://sdu.edu.kz/en/tuition-fees/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Filtering and ranking are deterministic. The model cannot introduce new programmes, requirements or numeric claims: it selects only allowed reason labels for already-selected programmes. Personal scores and e-mail are not sent to the explanation prompt. Actual keyed Gemini use was not performed during this sprint verification; controlled model responses and unavailable/invalid-model fallbacks were tested.</a:t>
            </a:r>
          </a:p>
          <a:p xmlns:a="http://schemas.openxmlformats.org/drawingml/2006/main">
            <a:r>
              <a:t/>
            </a:r>
          </a:p>
          <a:p xmlns:a="http://schemas.openxmlformats.org/drawingml/2006/main">
            <a:r>
              <a:t>[Sources]</a:t>
            </a:r>
          </a:p>
          <a:p xmlns:a="http://schemas.openxmlformats.org/drawingml/2006/main">
            <a:r>
              <a:t>- Project source: backend/docs/api/guidance.md.</a:t>
            </a:r>
          </a:p>
          <a:p xmlns:a="http://schemas.openxmlformats.org/drawingml/2006/main">
            <a:r>
              <a:t>- Project source: docs/sprint-6-review.md (implementation / local QA record, 29 October 2026).</a:t>
            </a:r>
          </a:p>
          <a:p xmlns:a="http://schemas.openxmlformats.org/drawingml/2006/main">
            <a:r>
              <a:t>- Product asset: read-only local /recommendations screenshot captured 29 October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guide reads published funding FAQ records from the database, so staff updates and retirement apply on the next API request. Missing official translations visibly fall back to the English source. The screenshot is a project FAQ example; it does not establish a new award or guarantee that an offer is currently available. The displayed last-check date is retained from the source record.</a:t>
            </a:r>
          </a:p>
          <a:p xmlns:a="http://schemas.openxmlformats.org/drawingml/2006/main">
            <a:r>
              <a:t/>
            </a:r>
          </a:p>
          <a:p xmlns:a="http://schemas.openxmlformats.org/drawingml/2006/main">
            <a:r>
              <a:t>[Sources]</a:t>
            </a:r>
          </a:p>
          <a:p xmlns:a="http://schemas.openxmlformats.org/drawingml/2006/main">
            <a:r>
              <a:t>- Project source: backend/docs/api/guidance.md.</a:t>
            </a:r>
          </a:p>
          <a:p xmlns:a="http://schemas.openxmlformats.org/drawingml/2006/main">
            <a:r>
              <a:t>- Project source: docs/sprint-6-review.md (implementation / local QA record, 29 October 2026).</a:t>
            </a:r>
          </a:p>
          <a:p xmlns:a="http://schemas.openxmlformats.org/drawingml/2006/main">
            <a:r>
              <a:t>- Product asset: read-only local /funding screenshot captured 29 October 2026.</a:t>
            </a:r>
          </a:p>
          <a:p xmlns:a="http://schemas.openxmlformats.org/drawingml/2006/main">
            <a:r>
              <a:t>- Official page cited by this FAQ: https://sdu.edu.kz/en/admission-3-2/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flow describes the implemented account-based handoff, not a live chat or guest e-mail form. The question and answer are private to the verified owner and authorized staff. The answer commits before notification; failed SMTP delivery stays retryable. Repeated submissions deduplicate and account deletion cascades through requests and delivery state. Transactional notifications contain only an account link. Production accounts still depend on the existing hosting/SMTP decision.</a:t>
            </a:r>
          </a:p>
          <a:p xmlns:a="http://schemas.openxmlformats.org/drawingml/2006/main">
            <a:r>
              <a:t/>
            </a:r>
          </a:p>
          <a:p xmlns:a="http://schemas.openxmlformats.org/drawingml/2006/main">
            <a:r>
              <a:t>[Sources]</a:t>
            </a:r>
          </a:p>
          <a:p xmlns:a="http://schemas.openxmlformats.org/drawingml/2006/main">
            <a:r>
              <a:t>- Project source: backend/docs/api/requests.md.</a:t>
            </a:r>
          </a:p>
          <a:p xmlns:a="http://schemas.openxmlformats.org/drawingml/2006/main">
            <a:r>
              <a:t>- Project source: docs/sprint-6-review.md (implementation / local QA record, 29 October 2026).</a:t>
            </a:r>
          </a:p>
          <a:p xmlns:a="http://schemas.openxmlformats.org/drawingml/2006/main">
            <a:r>
              <a:t>- Project source: docs/applicant-hosting.md.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source audit is not a claim that every university requirement is known or approved. Unresolved programme-specific requirements, master-track applicability, credit splits, conflicting sources and some master/PhD facts remain explicit blockers to full data completeness. No route is declared complete by the baseline seed. The implementation also includes scoped local PhD rules and programme-specific master credit references where official evidence exists.</a:t>
            </a:r>
          </a:p>
          <a:p xmlns:a="http://schemas.openxmlformats.org/drawingml/2006/main">
            <a:r>
              <a:t/>
            </a:r>
          </a:p>
          <a:p xmlns:a="http://schemas.openxmlformats.org/drawingml/2006/main">
            <a:r>
              <a:t>[Sources]</a:t>
            </a:r>
          </a:p>
          <a:p xmlns:a="http://schemas.openxmlformats.org/drawingml/2006/main">
            <a:r>
              <a:t>- Project source: docs/sprint-6-data-review.md and backend/app/data/guidance.json.</a:t>
            </a:r>
          </a:p>
          <a:p xmlns:a="http://schemas.openxmlformats.org/drawingml/2006/main">
            <a:r>
              <a:t>- Project source: docs/sprint-6-review.md (implementation / local QA record, 29 October 2026).</a:t>
            </a:r>
          </a:p>
          <a:p xmlns:a="http://schemas.openxmlformats.org/drawingml/2006/main">
            <a:r>
              <a:t>- Project source: README.md (portal language support).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Structured rule/tariff editing is integrated into the existing staff programme editor. Startup inserts only missing guidance rows and does not overwrite staff changes. Migration 0019 adds guidance and private-request tables and was tested from an empty database, downgraded to 0018 and upgraded again. Public assessments do not persist profiles or scores. The new browser matrix is configured in Backend CI; this deck does not claim that a remote GitHub CI run was executed.</a:t>
            </a:r>
          </a:p>
          <a:p xmlns:a="http://schemas.openxmlformats.org/drawingml/2006/main">
            <a:r>
              <a:t/>
            </a:r>
          </a:p>
          <a:p xmlns:a="http://schemas.openxmlformats.org/drawingml/2006/main">
            <a:r>
              <a:t>[Sources]</a:t>
            </a:r>
          </a:p>
          <a:p xmlns:a="http://schemas.openxmlformats.org/drawingml/2006/main">
            <a:r>
              <a:t>- Project source: backend/docs/api/guidance.md.</a:t>
            </a:r>
          </a:p>
          <a:p xmlns:a="http://schemas.openxmlformats.org/drawingml/2006/main">
            <a:r>
              <a:t>- Project source: backend/migrations/versions/0019_program_guidance_and_requests.py.</a:t>
            </a:r>
          </a:p>
          <a:p xmlns:a="http://schemas.openxmlformats.org/drawingml/2006/main">
            <a:r>
              <a:t>- Project source: docs/sprint-6-review.md (implementation / local QA record, 29 October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539 browser checks comprise 72 new guidance/request checks plus 60 comparison, 144 language, 78 widget, 88 staff and 97 applicant checks. The full backend run passed 632 tests; 40 targeted checks and three focused UI checks also passed after final adjustments. A separate 64/64 API pass covered every programme. The existing assistant v3 evaluation remained 63/70 (90%), with 9/9 correct fallbacks and zero invented facts in that evaluation. All results are local, not production or PO acceptance.</a:t>
            </a:r>
          </a:p>
          <a:p xmlns:a="http://schemas.openxmlformats.org/drawingml/2006/main">
            <a:r>
              <a:t/>
            </a:r>
          </a:p>
          <a:p xmlns:a="http://schemas.openxmlformats.org/drawingml/2006/main">
            <a:r>
              <a:t>[Sources]</a:t>
            </a:r>
          </a:p>
          <a:p xmlns:a="http://schemas.openxmlformats.org/drawingml/2006/main">
            <a:r>
              <a:t>- Project source: docs/sprint-6-review.md (implementation / local QA record, 29 October 2026).</a:t>
            </a:r>
          </a:p>
          <a:p xmlns:a="http://schemas.openxmlformats.org/drawingml/2006/main">
            <a:r>
              <a:t>- Project sources: backend/docs/qa/US5-QA.md and US27-QA.md through US30-QA.md.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is ready for review; full live acceptance remains open. Required next actions are official confirmation of the named source gaps, PR review and required CI, recording the hosting/SMTP decision for personal data including questions/replies, deployment through the normal workflow, live scenario checks and actual Product Owner acceptance. Accounts remain disabled by default on the VM until the prerequisite is met. Previous sprint acceptance carry-over is not silently closed.</a:t>
            </a:r>
          </a:p>
          <a:p xmlns:a="http://schemas.openxmlformats.org/drawingml/2006/main">
            <a:r>
              <a:t/>
            </a:r>
          </a:p>
          <a:p xmlns:a="http://schemas.openxmlformats.org/drawingml/2006/main">
            <a:r>
              <a:t>[Sources]</a:t>
            </a:r>
          </a:p>
          <a:p xmlns:a="http://schemas.openxmlformats.org/drawingml/2006/main">
            <a:r>
              <a:t>- Project source: docs/sprint-6-review.md (implementation / local QA record, 29 October 2026).</a:t>
            </a:r>
          </a:p>
          <a:p xmlns:a="http://schemas.openxmlformats.org/drawingml/2006/main">
            <a:r>
              <a:t>- Project source: docs/applicant-hosting.md.</a:t>
            </a:r>
          </a:p>
          <a:p xmlns:a="http://schemas.openxmlformats.org/drawingml/2006/main">
            <a:r>
              <a:t>- Project source: docs/sprint-6-tasks.md (scope and story contacts).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f00ae2d71241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dd1fc6fb6c4574" /><Relationship Type="http://schemas.openxmlformats.org/officeDocument/2006/relationships/slideLayout" Target="/ppt/slideLayouts/slideLayout1.xml" Id="Rdcb0f298a5f540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b0f298a5f540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82fe28060d4586" /><Relationship Type="http://schemas.openxmlformats.org/officeDocument/2006/relationships/notesSlide" Target="/ppt/notesSlides/notesSlide1.xml" Id="R9bb65b8ddb6d43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3f0c0d97da4ac7" /><Relationship Type="http://schemas.openxmlformats.org/officeDocument/2006/relationships/notesSlide" Target="/ppt/notesSlides/notesSlide2.xml" Id="R07a76df6b9d246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1812e4b8df4b84" /><Relationship Type="http://schemas.openxmlformats.org/officeDocument/2006/relationships/image" Target="/ppt/media/image.png" Id="Rbedd66a08924492d" /><Relationship Type="http://schemas.openxmlformats.org/officeDocument/2006/relationships/notesSlide" Target="/ppt/notesSlides/notesSlide3.xml" Id="R4099cf9baec540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71f80a022a34a2e" /><Relationship Type="http://schemas.openxmlformats.org/officeDocument/2006/relationships/image" Target="/ppt/media/image2.png" Id="Rbb7941a9dc534067" /><Relationship Type="http://schemas.openxmlformats.org/officeDocument/2006/relationships/notesSlide" Target="/ppt/notesSlides/notesSlide4.xml" Id="R872bb553896d43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bb7fe6d0904d90" /><Relationship Type="http://schemas.openxmlformats.org/officeDocument/2006/relationships/image" Target="/ppt/media/image3.png" Id="Rf49a8229900d4330" /><Relationship Type="http://schemas.openxmlformats.org/officeDocument/2006/relationships/notesSlide" Target="/ppt/notesSlides/notesSlide5.xml" Id="R20be2cddbaea48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da4f89f956480c" /><Relationship Type="http://schemas.openxmlformats.org/officeDocument/2006/relationships/image" Target="/ppt/media/image4.png" Id="Rbd1d16c114624c75" /><Relationship Type="http://schemas.openxmlformats.org/officeDocument/2006/relationships/notesSlide" Target="/ppt/notesSlides/notesSlide6.xml" Id="Re43951069cbe41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ce2da253904ea6" /><Relationship Type="http://schemas.openxmlformats.org/officeDocument/2006/relationships/notesSlide" Target="/ppt/notesSlides/notesSlide7.xml" Id="R904b8366fec542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b86594e45654f08" /><Relationship Type="http://schemas.openxmlformats.org/officeDocument/2006/relationships/notesSlide" Target="/ppt/notesSlides/notesSlide8.xml" Id="Ra1384f3e00f64c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181d79646384bdc" /><Relationship Type="http://schemas.openxmlformats.org/officeDocument/2006/relationships/notesSlide" Target="/ppt/notesSlides/notesSlide9.xml" Id="Reeaaa82ddf4044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30a18bfae0400b" /><Relationship Type="http://schemas.openxmlformats.org/officeDocument/2006/relationships/notesSlide" Target="/ppt/notesSlides/notesSlide10.xml" Id="Rb36be8cfa4434e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ee71d9503f437c" /><Relationship Type="http://schemas.openxmlformats.org/officeDocument/2006/relationships/notesSlide" Target="/ppt/notesSlides/notesSlide11.xml" Id="Rb52d15de65654f1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cover-kicker">
            <a:extLst xmlns:a="http://schemas.openxmlformats.org/drawingml/2006/main">
              <a:ext uri="{FF2B5EF4-FFF2-40B4-BE49-F238E27FC236}">
                <a16:creationId xmlns:a16="http://schemas.microsoft.com/office/drawing/2014/main" id="{EE5C985B-7537-468A-ADD2-1B150C63DD10}"/>
              </a:ext>
            </a:extLst>
          </p:cNvPr>
          <p:cNvSpPr>
            <a:spLocks xmlns:a="http://schemas.openxmlformats.org/drawingml/2006/main" noGrp="1"/>
          </p:cNvSpPr>
          <p:nvPr/>
        </p:nvSpPr>
        <p:spPr>
          <a:xfrm xmlns:a="http://schemas.openxmlformats.org/drawingml/2006/main">
            <a:off x="393668" y="39224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111"/>
                </a:solidFill>
                <a:latin typeface="Helvetica Neue"/>
                <a:ea typeface="Helvetica Neue"/>
                <a:cs typeface="Helvetica Neue"/>
              </a:defRPr>
            </a:pPr>
            <a:r>
              <a:rPr sz="2400" b="0">
                <a:solidFill>
                  <a:srgbClr val="111111"/>
                </a:solidFill>
                <a:latin typeface="Helvetica Neue"/>
                <a:ea typeface="Helvetica Neue"/>
                <a:cs typeface="Helvetica Neue"/>
              </a:rPr>
              <a:t>SDU ADMISSIONS PORTAL</a:t>
            </a:r>
          </a:p>
        </p:txBody>
      </p:sp>
      <p:sp>
        <p:nvSpPr>
          <p:cNvPr id="2" name="cover-title">
            <a:extLst xmlns:a="http://schemas.openxmlformats.org/drawingml/2006/main">
              <a:ext uri="{FF2B5EF4-FFF2-40B4-BE49-F238E27FC236}">
                <a16:creationId xmlns:a16="http://schemas.microsoft.com/office/drawing/2014/main" id="{E44DB776-FD2B-404A-A252-299B2CCF925F}"/>
              </a:ext>
            </a:extLst>
          </p:cNvPr>
          <p:cNvSpPr>
            <a:spLocks xmlns:a="http://schemas.openxmlformats.org/drawingml/2006/main" noGrp="1"/>
          </p:cNvSpPr>
          <p:nvPr/>
        </p:nvSpPr>
        <p:spPr>
          <a:xfrm xmlns:a="http://schemas.openxmlformats.org/drawingml/2006/main">
            <a:off x="393668" y="1738789"/>
            <a:ext cx="104775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0" b="0">
                <a:solidFill>
                  <a:srgbClr val="111111"/>
                </a:solidFill>
                <a:latin typeface="Helvetica Neue"/>
                <a:ea typeface="Helvetica Neue"/>
                <a:cs typeface="Helvetica Neue"/>
              </a:defRPr>
            </a:pPr>
            <a:r>
              <a:rPr sz="6000" b="0">
                <a:solidFill>
                  <a:srgbClr val="111111"/>
                </a:solidFill>
                <a:latin typeface="Helvetica Neue"/>
                <a:ea typeface="Helvetica Neue"/>
                <a:cs typeface="Helvetica Neue"/>
              </a:rPr>
              <a:t>Sprint 6</a:t>
            </a:r>
          </a:p>
          <a:p xmlns:a="http://schemas.openxmlformats.org/drawingml/2006/main">
            <a:pPr algn="l">
              <a:defRPr sz="6000" b="0">
                <a:solidFill>
                  <a:srgbClr val="111111"/>
                </a:solidFill>
                <a:latin typeface="Helvetica Neue"/>
                <a:ea typeface="Helvetica Neue"/>
                <a:cs typeface="Helvetica Neue"/>
              </a:defRPr>
            </a:pPr>
            <a:r>
              <a:rPr sz="6000" b="0">
                <a:solidFill>
                  <a:srgbClr val="111111"/>
                </a:solidFill>
                <a:latin typeface="Helvetica Neue"/>
                <a:ea typeface="Helvetica Neue"/>
                <a:cs typeface="Helvetica Neue"/>
              </a:rPr>
              <a:t>Admissions planning</a:t>
            </a:r>
          </a:p>
        </p:txBody>
      </p:sp>
      <p:sp>
        <p:nvSpPr>
          <p:cNvPr id="3" name="cover-subtitle">
            <a:extLst xmlns:a="http://schemas.openxmlformats.org/drawingml/2006/main">
              <a:ext uri="{FF2B5EF4-FFF2-40B4-BE49-F238E27FC236}">
                <a16:creationId xmlns:a16="http://schemas.microsoft.com/office/drawing/2014/main" id="{D80AF525-87F1-477D-B01F-58483017678A}"/>
              </a:ext>
            </a:extLst>
          </p:cNvPr>
          <p:cNvSpPr>
            <a:spLocks xmlns:a="http://schemas.openxmlformats.org/drawingml/2006/main" noGrp="1"/>
          </p:cNvSpPr>
          <p:nvPr/>
        </p:nvSpPr>
        <p:spPr>
          <a:xfrm xmlns:a="http://schemas.openxmlformats.org/drawingml/2006/main">
            <a:off x="393668" y="4742212"/>
            <a:ext cx="9525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111"/>
                </a:solidFill>
                <a:latin typeface="Helvetica Neue"/>
                <a:ea typeface="Helvetica Neue"/>
                <a:cs typeface="Helvetica Neue"/>
              </a:defRPr>
            </a:pPr>
            <a:r>
              <a:rPr sz="2400" b="0">
                <a:solidFill>
                  <a:srgbClr val="111111"/>
                </a:solidFill>
                <a:latin typeface="Helvetica Neue"/>
                <a:ea typeface="Helvetica Neue"/>
                <a:cs typeface="Helvetica Neue"/>
              </a:rPr>
              <a:t>24–30 October 2026</a:t>
            </a:r>
          </a:p>
          <a:p xmlns:a="http://schemas.openxmlformats.org/drawingml/2006/main">
            <a:pPr algn="l">
              <a:defRPr sz="2400" b="0">
                <a:solidFill>
                  <a:srgbClr val="111111"/>
                </a:solidFill>
                <a:latin typeface="Helvetica Neue"/>
                <a:ea typeface="Helvetica Neue"/>
                <a:cs typeface="Helvetica Neue"/>
              </a:defRPr>
            </a:pPr>
            <a:r>
              <a:rPr sz="2400" b="0">
                <a:solidFill>
                  <a:srgbClr val="111111"/>
                </a:solidFill>
                <a:latin typeface="Helvetica Neue"/>
                <a:ea typeface="Helvetica Neue"/>
                <a:cs typeface="Helvetica Neue"/>
              </a:rPr>
              <a:t>Implementation review · 29 October</a:t>
            </a:r>
          </a:p>
        </p:txBody>
      </p:sp>
    </p:spTree>
    <p:extLst>
      <p:ext uri="{BB962C8B-B14F-4D97-AF65-F5344CB8AC3E}">
        <p14:creationId xmlns:p14="http://schemas.microsoft.com/office/powerpoint/2010/main" val="12621385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00A779A-1297-4830-9DC2-AFEC9C0453A2}"/>
              </a:ext>
            </a:extLst>
          </p:cNvPr>
          <p:cNvSpPr>
            <a:spLocks xmlns:a="http://schemas.openxmlformats.org/drawingml/2006/main" noGrp="1"/>
          </p:cNvSpPr>
          <p:nvPr/>
        </p:nvSpPr>
        <p:spPr>
          <a:xfrm xmlns:a="http://schemas.openxmlformats.org/drawingml/2006/main">
            <a:off x="393668" y="344043"/>
            <a:ext cx="11404568"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11111"/>
                </a:solidFill>
                <a:latin typeface="Helvetica Neue"/>
                <a:ea typeface="Helvetica Neue"/>
                <a:cs typeface="Helvetica Neue"/>
              </a:defRPr>
            </a:pPr>
            <a:r>
              <a:rPr sz="3600" b="0">
                <a:solidFill>
                  <a:srgbClr val="111111"/>
                </a:solidFill>
                <a:latin typeface="Helvetica Neue"/>
                <a:ea typeface="Helvetica Neue"/>
                <a:cs typeface="Helvetica Neue"/>
              </a:rPr>
              <a:t>Five features for admission planning</a:t>
            </a:r>
          </a:p>
        </p:txBody>
      </p:sp>
      <p:sp>
        <p:nvSpPr>
          <p:cNvPr id="2" name="deck-footer">
            <a:extLst xmlns:a="http://schemas.openxmlformats.org/drawingml/2006/main">
              <a:ext uri="{FF2B5EF4-FFF2-40B4-BE49-F238E27FC236}">
                <a16:creationId xmlns:a16="http://schemas.microsoft.com/office/drawing/2014/main" id="{F587D8E7-9113-42F0-ABE6-B6B14E061C5A}"/>
              </a:ext>
            </a:extLst>
          </p:cNvPr>
          <p:cNvSpPr>
            <a:spLocks xmlns:a="http://schemas.openxmlformats.org/drawingml/2006/main" noGrp="1"/>
          </p:cNvSpPr>
          <p:nvPr/>
        </p:nvSpPr>
        <p:spPr>
          <a:xfrm xmlns:a="http://schemas.openxmlformats.org/drawingml/2006/main">
            <a:off x="393668" y="63341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SDU Admissions Portal  /  Sprint 6</a:t>
            </a:r>
          </a:p>
        </p:txBody>
      </p:sp>
      <p:sp>
        <p:nvSpPr>
          <p:cNvPr id="3" name="page-number">
            <a:extLst xmlns:a="http://schemas.openxmlformats.org/drawingml/2006/main">
              <a:ext uri="{FF2B5EF4-FFF2-40B4-BE49-F238E27FC236}">
                <a16:creationId xmlns:a16="http://schemas.microsoft.com/office/drawing/2014/main" id="{AEDFDF92-3B1D-45B2-81BB-DF0ADC0F8DD1}"/>
              </a:ext>
            </a:extLst>
          </p:cNvPr>
          <p:cNvSpPr>
            <a:spLocks xmlns:a="http://schemas.openxmlformats.org/drawingml/2006/main" noGrp="1"/>
          </p:cNvSpPr>
          <p:nvPr/>
        </p:nvSpPr>
        <p:spPr>
          <a:xfrm xmlns:a="http://schemas.openxmlformats.org/drawingml/2006/main">
            <a:off x="11279315" y="6334125"/>
            <a:ext cx="51892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02</a:t>
            </a:r>
          </a:p>
        </p:txBody>
      </p:sp>
      <p:sp>
        <p:nvSpPr>
          <p:cNvPr id="4" name="scope-lead">
            <a:extLst xmlns:a="http://schemas.openxmlformats.org/drawingml/2006/main">
              <a:ext uri="{FF2B5EF4-FFF2-40B4-BE49-F238E27FC236}">
                <a16:creationId xmlns:a16="http://schemas.microsoft.com/office/drawing/2014/main" id="{34DD9BE9-31E5-40B7-AB48-7A5551D77E44}"/>
              </a:ext>
            </a:extLst>
          </p:cNvPr>
          <p:cNvSpPr>
            <a:spLocks xmlns:a="http://schemas.openxmlformats.org/drawingml/2006/main" noGrp="1"/>
          </p:cNvSpPr>
          <p:nvPr/>
        </p:nvSpPr>
        <p:spPr>
          <a:xfrm xmlns:a="http://schemas.openxmlformats.org/drawingml/2006/main">
            <a:off x="393668" y="1438275"/>
            <a:ext cx="1140456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75B60"/>
                </a:solidFill>
                <a:latin typeface="Helvetica Neue"/>
                <a:ea typeface="Helvetica Neue"/>
                <a:cs typeface="Helvetica Neue"/>
              </a:defRPr>
            </a:pPr>
            <a:r>
              <a:rPr sz="2100" b="0">
                <a:solidFill>
                  <a:srgbClr val="575B60"/>
                </a:solidFill>
                <a:latin typeface="Helvetica Neue"/>
                <a:ea typeface="Helvetica Neue"/>
                <a:cs typeface="Helvetica Neue"/>
              </a:rPr>
              <a:t>Help applicants choose a programme and understand their next steps.</a:t>
            </a:r>
          </a:p>
        </p:txBody>
      </p:sp>
      <p:graphicFrame>
        <p:nvGraphicFramePr>
          <p:cNvPr id="10" name=""/>
          <p:cNvGraphicFramePr/>
          <p:nvPr/>
        </p:nvGraphicFramePr>
        <p:xfrm>
          <a:off xmlns:a="http://schemas.openxmlformats.org/drawingml/2006/main" x="393668" y="2079974"/>
          <a:ext xmlns:a="http://schemas.openxmlformats.org/drawingml/2006/main" cx="11404664" cy="3914394"/>
        </p:xfrm>
        <a:graphic xmlns:a="http://schemas.openxmlformats.org/drawingml/2006/main">
          <a:graphicData uri="http://schemas.openxmlformats.org/drawingml/2006/table">
            <a:tbl>
              <a:tblPr/>
              <a:tblGrid>
                <a:gridCol w="1238250"/>
                <a:gridCol w="3524250"/>
                <a:gridCol w="6642164"/>
              </a:tblGrid>
              <a:tr h="652367">
                <a:tc>
                  <a:txBody>
                    <a:bodyPr lIns="133350" tIns="95250" rIns="114300" bIns="95250"/>
                    <a:lstStyle/>
                    <a:p>
                      <a:r>
                        <a:rPr sz="1950" b="1">
                          <a:solidFill>
                            <a:srgbClr val="111111"/>
                          </a:solidFill>
                          <a:latin typeface="Helvetica Neue"/>
                          <a:ea typeface="Helvetica Neue"/>
                          <a:cs typeface="Helvetica Neue"/>
                        </a:rPr>
                        <a:t>Story</a:t>
                      </a:r>
                    </a:p>
                  </a:txBody>
                  <a:tcPr marL="91440" marR="91440" marT="45720" marB="45720" anchor="ctr">
                    <a:solidFill>
                      <a:srgbClr val="EDEDED"/>
                    </a:solidFill>
                  </a:tcPr>
                </a:tc>
                <a:tc>
                  <a:txBody>
                    <a:bodyPr lIns="133350" tIns="95250" rIns="114300" bIns="95250"/>
                    <a:lstStyle/>
                    <a:p>
                      <a:r>
                        <a:rPr sz="1950" b="1">
                          <a:solidFill>
                            <a:srgbClr val="111111"/>
                          </a:solidFill>
                          <a:latin typeface="Helvetica Neue"/>
                          <a:ea typeface="Helvetica Neue"/>
                          <a:cs typeface="Helvetica Neue"/>
                        </a:rPr>
                        <a:t>Feature</a:t>
                      </a:r>
                    </a:p>
                  </a:txBody>
                  <a:tcPr marL="91440" marR="91440" marT="45720" marB="45720" anchor="ctr">
                    <a:solidFill>
                      <a:srgbClr val="EDEDED"/>
                    </a:solidFill>
                  </a:tcPr>
                </a:tc>
                <a:tc>
                  <a:txBody>
                    <a:bodyPr lIns="133350" tIns="95250" rIns="114300" bIns="95250"/>
                    <a:lstStyle/>
                    <a:p>
                      <a:r>
                        <a:rPr sz="1950" b="1">
                          <a:solidFill>
                            <a:srgbClr val="111111"/>
                          </a:solidFill>
                          <a:latin typeface="Helvetica Neue"/>
                          <a:ea typeface="Helvetica Neue"/>
                          <a:cs typeface="Helvetica Neue"/>
                        </a:rPr>
                        <a:t>What the applicant can do</a:t>
                      </a:r>
                    </a:p>
                  </a:txBody>
                  <a:tcPr marL="91440" marR="91440" marT="45720" marB="45720" anchor="ctr">
                    <a:solidFill>
                      <a:srgbClr val="EDEDED"/>
                    </a:solidFill>
                  </a:tcPr>
                </a:tc>
              </a:tr>
              <a:tr h="652367">
                <a:tc>
                  <a:txBody>
                    <a:bodyPr lIns="133350" tIns="95250" rIns="114300" bIns="95250"/>
                    <a:lstStyle/>
                    <a:p>
                      <a:r>
                        <a:rPr sz="1875" b="0">
                          <a:solidFill>
                            <a:srgbClr val="111111"/>
                          </a:solidFill>
                          <a:latin typeface="Helvetica Neue"/>
                          <a:ea typeface="Helvetica Neue"/>
                          <a:cs typeface="Helvetica Neue"/>
                        </a:rPr>
                        <a:t>US27</a:t>
                      </a:r>
                    </a:p>
                  </a:txBody>
                  <a:tcPr marL="91440" marR="91440" marT="45720" marB="45720" anchor="ctr">
                    <a:solidFill>
                      <a:srgbClr val="FFFFFF"/>
                    </a:solidFill>
                  </a:tcPr>
                </a:tc>
                <a:tc>
                  <a:txBody>
                    <a:bodyPr lIns="133350" tIns="95250" rIns="114300" bIns="95250"/>
                    <a:lstStyle/>
                    <a:p>
                      <a:r>
                        <a:rPr sz="1875" b="0">
                          <a:solidFill>
                            <a:srgbClr val="111111"/>
                          </a:solidFill>
                          <a:latin typeface="Helvetica Neue"/>
                          <a:ea typeface="Helvetica Neue"/>
                          <a:cs typeface="Helvetica Neue"/>
                        </a:rPr>
                        <a:t>Eligibility check</a:t>
                      </a:r>
                    </a:p>
                  </a:txBody>
                  <a:tcPr marL="91440" marR="91440" marT="45720" marB="45720" anchor="ctr">
                    <a:solidFill>
                      <a:srgbClr val="FFFFFF"/>
                    </a:solidFill>
                  </a:tcPr>
                </a:tc>
                <a:tc>
                  <a:txBody>
                    <a:bodyPr lIns="133350" tIns="95250" rIns="114300" bIns="95250"/>
                    <a:lstStyle/>
                    <a:p>
                      <a:r>
                        <a:rPr sz="1875" b="0">
                          <a:solidFill>
                            <a:srgbClr val="111111"/>
                          </a:solidFill>
                          <a:latin typeface="Helvetica Neue"/>
                          <a:ea typeface="Helvetica Neue"/>
                          <a:cs typeface="Helvetica Neue"/>
                        </a:rPr>
                        <a:t>Check published entry requirements.</a:t>
                      </a:r>
                    </a:p>
                  </a:txBody>
                  <a:tcPr marL="91440" marR="91440" marT="45720" marB="45720" anchor="ctr">
                    <a:solidFill>
                      <a:srgbClr val="FFFFFF"/>
                    </a:solidFill>
                  </a:tcPr>
                </a:tc>
              </a:tr>
              <a:tr h="652367">
                <a:tc>
                  <a:txBody>
                    <a:bodyPr lIns="133350" tIns="95250" rIns="114300" bIns="95250"/>
                    <a:lstStyle/>
                    <a:p>
                      <a:r>
                        <a:rPr sz="1875" b="0">
                          <a:solidFill>
                            <a:srgbClr val="111111"/>
                          </a:solidFill>
                          <a:latin typeface="Helvetica Neue"/>
                          <a:ea typeface="Helvetica Neue"/>
                          <a:cs typeface="Helvetica Neue"/>
                        </a:rPr>
                        <a:t>US28</a:t>
                      </a:r>
                    </a:p>
                  </a:txBody>
                  <a:tcPr marL="91440" marR="91440" marT="45720" marB="45720" anchor="ctr">
                    <a:solidFill>
                      <a:srgbClr val="FFFFFF"/>
                    </a:solidFill>
                  </a:tcPr>
                </a:tc>
                <a:tc>
                  <a:txBody>
                    <a:bodyPr lIns="133350" tIns="95250" rIns="114300" bIns="95250"/>
                    <a:lstStyle/>
                    <a:p>
                      <a:r>
                        <a:rPr sz="1875" b="0">
                          <a:solidFill>
                            <a:srgbClr val="111111"/>
                          </a:solidFill>
                          <a:latin typeface="Helvetica Neue"/>
                          <a:ea typeface="Helvetica Neue"/>
                          <a:cs typeface="Helvetica Neue"/>
                        </a:rPr>
                        <a:t>Tuition calculator</a:t>
                      </a:r>
                    </a:p>
                  </a:txBody>
                  <a:tcPr marL="91440" marR="91440" marT="45720" marB="45720" anchor="ctr">
                    <a:solidFill>
                      <a:srgbClr val="FFFFFF"/>
                    </a:solidFill>
                  </a:tcPr>
                </a:tc>
                <a:tc>
                  <a:txBody>
                    <a:bodyPr lIns="133350" tIns="95250" rIns="114300" bIns="95250"/>
                    <a:lstStyle/>
                    <a:p>
                      <a:r>
                        <a:rPr sz="1875" b="0">
                          <a:solidFill>
                            <a:srgbClr val="111111"/>
                          </a:solidFill>
                          <a:latin typeface="Helvetica Neue"/>
                          <a:ea typeface="Helvetica Neue"/>
                          <a:cs typeface="Helvetica Neue"/>
                        </a:rPr>
                        <a:t>Estimate professional and MDE course costs.</a:t>
                      </a:r>
                    </a:p>
                  </a:txBody>
                  <a:tcPr marL="91440" marR="91440" marT="45720" marB="45720" anchor="ctr">
                    <a:solidFill>
                      <a:srgbClr val="FFFFFF"/>
                    </a:solidFill>
                  </a:tcPr>
                </a:tc>
              </a:tr>
              <a:tr h="652367">
                <a:tc>
                  <a:txBody>
                    <a:bodyPr lIns="133350" tIns="95250" rIns="114300" bIns="95250"/>
                    <a:lstStyle/>
                    <a:p>
                      <a:r>
                        <a:rPr sz="1875" b="0">
                          <a:solidFill>
                            <a:srgbClr val="111111"/>
                          </a:solidFill>
                          <a:latin typeface="Helvetica Neue"/>
                          <a:ea typeface="Helvetica Neue"/>
                          <a:cs typeface="Helvetica Neue"/>
                        </a:rPr>
                        <a:t>US5</a:t>
                      </a:r>
                    </a:p>
                  </a:txBody>
                  <a:tcPr marL="91440" marR="91440" marT="45720" marB="45720" anchor="ctr">
                    <a:solidFill>
                      <a:srgbClr val="FFFFFF"/>
                    </a:solidFill>
                  </a:tcPr>
                </a:tc>
                <a:tc>
                  <a:txBody>
                    <a:bodyPr lIns="133350" tIns="95250" rIns="114300" bIns="95250"/>
                    <a:lstStyle/>
                    <a:p>
                      <a:r>
                        <a:rPr sz="1875" b="0">
                          <a:solidFill>
                            <a:srgbClr val="111111"/>
                          </a:solidFill>
                          <a:latin typeface="Helvetica Neue"/>
                          <a:ea typeface="Helvetica Neue"/>
                          <a:cs typeface="Helvetica Neue"/>
                        </a:rPr>
                        <a:t>Programme recommendations</a:t>
                      </a:r>
                    </a:p>
                  </a:txBody>
                  <a:tcPr marL="91440" marR="91440" marT="45720" marB="45720" anchor="ctr">
                    <a:solidFill>
                      <a:srgbClr val="FFFFFF"/>
                    </a:solidFill>
                  </a:tcPr>
                </a:tc>
                <a:tc>
                  <a:txBody>
                    <a:bodyPr lIns="133350" tIns="95250" rIns="114300" bIns="95250"/>
                    <a:lstStyle/>
                    <a:p>
                      <a:r>
                        <a:rPr sz="1875" b="0">
                          <a:solidFill>
                            <a:srgbClr val="111111"/>
                          </a:solidFill>
                          <a:latin typeface="Helvetica Neue"/>
                          <a:ea typeface="Helvetica Neue"/>
                          <a:cs typeface="Helvetica Neue"/>
                        </a:rPr>
                        <a:t>Explore up to three matching programmes.</a:t>
                      </a:r>
                    </a:p>
                  </a:txBody>
                  <a:tcPr marL="91440" marR="91440" marT="45720" marB="45720" anchor="ctr">
                    <a:solidFill>
                      <a:srgbClr val="FFFFFF"/>
                    </a:solidFill>
                  </a:tcPr>
                </a:tc>
              </a:tr>
              <a:tr h="652367">
                <a:tc>
                  <a:txBody>
                    <a:bodyPr lIns="133350" tIns="95250" rIns="114300" bIns="95250"/>
                    <a:lstStyle/>
                    <a:p>
                      <a:r>
                        <a:rPr sz="1875" b="0">
                          <a:solidFill>
                            <a:srgbClr val="111111"/>
                          </a:solidFill>
                          <a:latin typeface="Helvetica Neue"/>
                          <a:ea typeface="Helvetica Neue"/>
                          <a:cs typeface="Helvetica Neue"/>
                        </a:rPr>
                        <a:t>US29</a:t>
                      </a:r>
                    </a:p>
                  </a:txBody>
                  <a:tcPr marL="91440" marR="91440" marT="45720" marB="45720" anchor="ctr">
                    <a:solidFill>
                      <a:srgbClr val="FFFFFF"/>
                    </a:solidFill>
                  </a:tcPr>
                </a:tc>
                <a:tc>
                  <a:txBody>
                    <a:bodyPr lIns="133350" tIns="95250" rIns="114300" bIns="95250"/>
                    <a:lstStyle/>
                    <a:p>
                      <a:r>
                        <a:rPr sz="1875" b="0">
                          <a:solidFill>
                            <a:srgbClr val="111111"/>
                          </a:solidFill>
                          <a:latin typeface="Helvetica Neue"/>
                          <a:ea typeface="Helvetica Neue"/>
                          <a:cs typeface="Helvetica Neue"/>
                        </a:rPr>
                        <a:t>Grants and scholarships</a:t>
                      </a:r>
                    </a:p>
                  </a:txBody>
                  <a:tcPr marL="91440" marR="91440" marT="45720" marB="45720" anchor="ctr">
                    <a:solidFill>
                      <a:srgbClr val="FFFFFF"/>
                    </a:solidFill>
                  </a:tcPr>
                </a:tc>
                <a:tc>
                  <a:txBody>
                    <a:bodyPr lIns="133350" tIns="95250" rIns="114300" bIns="95250"/>
                    <a:lstStyle/>
                    <a:p>
                      <a:r>
                        <a:rPr sz="1875" b="0">
                          <a:solidFill>
                            <a:srgbClr val="111111"/>
                          </a:solidFill>
                          <a:latin typeface="Helvetica Neue"/>
                          <a:ea typeface="Helvetica Neue"/>
                          <a:cs typeface="Helvetica Neue"/>
                        </a:rPr>
                        <a:t>Find funding information with official sources.</a:t>
                      </a:r>
                    </a:p>
                  </a:txBody>
                  <a:tcPr marL="91440" marR="91440" marT="45720" marB="45720" anchor="ctr">
                    <a:solidFill>
                      <a:srgbClr val="FFFFFF"/>
                    </a:solidFill>
                  </a:tcPr>
                </a:tc>
              </a:tr>
              <a:tr h="652367">
                <a:tc>
                  <a:txBody>
                    <a:bodyPr lIns="133350" tIns="95250" rIns="114300" bIns="95250"/>
                    <a:lstStyle/>
                    <a:p>
                      <a:r>
                        <a:rPr sz="1875" b="0">
                          <a:solidFill>
                            <a:srgbClr val="111111"/>
                          </a:solidFill>
                          <a:latin typeface="Helvetica Neue"/>
                          <a:ea typeface="Helvetica Neue"/>
                          <a:cs typeface="Helvetica Neue"/>
                        </a:rPr>
                        <a:t>US30</a:t>
                      </a:r>
                    </a:p>
                  </a:txBody>
                  <a:tcPr marL="91440" marR="91440" marT="45720" marB="45720" anchor="ctr">
                    <a:solidFill>
                      <a:srgbClr val="FFFFFF"/>
                    </a:solidFill>
                  </a:tcPr>
                </a:tc>
                <a:tc>
                  <a:txBody>
                    <a:bodyPr lIns="133350" tIns="95250" rIns="114300" bIns="95250"/>
                    <a:lstStyle/>
                    <a:p>
                      <a:r>
                        <a:rPr sz="1875" b="0">
                          <a:solidFill>
                            <a:srgbClr val="111111"/>
                          </a:solidFill>
                          <a:latin typeface="Helvetica Neue"/>
                          <a:ea typeface="Helvetica Neue"/>
                          <a:cs typeface="Helvetica Neue"/>
                        </a:rPr>
                        <a:t>Admissions handoff</a:t>
                      </a:r>
                    </a:p>
                  </a:txBody>
                  <a:tcPr marL="91440" marR="91440" marT="45720" marB="45720" anchor="ctr">
                    <a:solidFill>
                      <a:srgbClr val="FFFFFF"/>
                    </a:solidFill>
                  </a:tcPr>
                </a:tc>
                <a:tc>
                  <a:txBody>
                    <a:bodyPr lIns="133350" tIns="95250" rIns="114300" bIns="95250"/>
                    <a:lstStyle/>
                    <a:p>
                      <a:r>
                        <a:rPr sz="1875" b="0">
                          <a:solidFill>
                            <a:srgbClr val="111111"/>
                          </a:solidFill>
                          <a:latin typeface="Helvetica Neue"/>
                          <a:ea typeface="Helvetica Neue"/>
                          <a:cs typeface="Helvetica Neue"/>
                        </a:rPr>
                        <a:t>Ask staff and read a private reply.</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2915043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ck-footer">
            <a:extLst xmlns:a="http://schemas.openxmlformats.org/drawingml/2006/main">
              <a:ext uri="{FF2B5EF4-FFF2-40B4-BE49-F238E27FC236}">
                <a16:creationId xmlns:a16="http://schemas.microsoft.com/office/drawing/2014/main" id="{20E46C43-703C-4483-A43F-4D3C723B9FA2}"/>
              </a:ext>
            </a:extLst>
          </p:cNvPr>
          <p:cNvSpPr>
            <a:spLocks xmlns:a="http://schemas.openxmlformats.org/drawingml/2006/main" noGrp="1"/>
          </p:cNvSpPr>
          <p:nvPr/>
        </p:nvSpPr>
        <p:spPr>
          <a:xfrm xmlns:a="http://schemas.openxmlformats.org/drawingml/2006/main">
            <a:off x="393668" y="63341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SDU Admissions Portal  /  Sprint 6</a:t>
            </a:r>
          </a:p>
        </p:txBody>
      </p:sp>
      <p:sp>
        <p:nvSpPr>
          <p:cNvPr id="2" name="page-number">
            <a:extLst xmlns:a="http://schemas.openxmlformats.org/drawingml/2006/main">
              <a:ext uri="{FF2B5EF4-FFF2-40B4-BE49-F238E27FC236}">
                <a16:creationId xmlns:a16="http://schemas.microsoft.com/office/drawing/2014/main" id="{9CD27BB0-99BE-4A69-9622-E990CAB53772}"/>
              </a:ext>
            </a:extLst>
          </p:cNvPr>
          <p:cNvSpPr>
            <a:spLocks xmlns:a="http://schemas.openxmlformats.org/drawingml/2006/main" noGrp="1"/>
          </p:cNvSpPr>
          <p:nvPr/>
        </p:nvSpPr>
        <p:spPr>
          <a:xfrm xmlns:a="http://schemas.openxmlformats.org/drawingml/2006/main">
            <a:off x="11279315" y="6334125"/>
            <a:ext cx="51892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03</a:t>
            </a:r>
          </a:p>
        </p:txBody>
      </p:sp>
      <p:sp>
        <p:nvSpPr>
          <p:cNvPr id="3" name="slide-title">
            <a:extLst xmlns:a="http://schemas.openxmlformats.org/drawingml/2006/main">
              <a:ext uri="{FF2B5EF4-FFF2-40B4-BE49-F238E27FC236}">
                <a16:creationId xmlns:a16="http://schemas.microsoft.com/office/drawing/2014/main" id="{7C380EC2-0802-4F59-8389-0020785F978E}"/>
              </a:ext>
            </a:extLst>
          </p:cNvPr>
          <p:cNvSpPr>
            <a:spLocks xmlns:a="http://schemas.openxmlformats.org/drawingml/2006/main" noGrp="1"/>
          </p:cNvSpPr>
          <p:nvPr/>
        </p:nvSpPr>
        <p:spPr>
          <a:xfrm xmlns:a="http://schemas.openxmlformats.org/drawingml/2006/main">
            <a:off x="393668" y="344043"/>
            <a:ext cx="5537168"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11111"/>
                </a:solidFill>
                <a:latin typeface="Helvetica Neue"/>
                <a:ea typeface="Helvetica Neue"/>
                <a:cs typeface="Helvetica Neue"/>
              </a:defRPr>
            </a:pPr>
            <a:r>
              <a:rPr sz="3600" b="0">
                <a:solidFill>
                  <a:srgbClr val="111111"/>
                </a:solidFill>
                <a:latin typeface="Helvetica Neue"/>
                <a:ea typeface="Helvetica Neue"/>
                <a:cs typeface="Helvetica Neue"/>
              </a:rPr>
              <a:t>Check published</a:t>
            </a:r>
          </a:p>
          <a:p xmlns:a="http://schemas.openxmlformats.org/drawingml/2006/main">
            <a:pPr algn="l">
              <a:defRPr sz="3600" b="0">
                <a:solidFill>
                  <a:srgbClr val="111111"/>
                </a:solidFill>
                <a:latin typeface="Helvetica Neue"/>
                <a:ea typeface="Helvetica Neue"/>
                <a:cs typeface="Helvetica Neue"/>
              </a:defRPr>
            </a:pPr>
            <a:r>
              <a:rPr sz="3600" b="0">
                <a:solidFill>
                  <a:srgbClr val="111111"/>
                </a:solidFill>
                <a:latin typeface="Helvetica Neue"/>
                <a:ea typeface="Helvetica Neue"/>
                <a:cs typeface="Helvetica Neue"/>
              </a:rPr>
              <a:t>requirements</a:t>
            </a:r>
          </a:p>
        </p:txBody>
      </p:sp>
      <p:sp>
        <p:nvSpPr>
          <p:cNvPr id="4" name="story-label">
            <a:extLst xmlns:a="http://schemas.openxmlformats.org/drawingml/2006/main">
              <a:ext uri="{FF2B5EF4-FFF2-40B4-BE49-F238E27FC236}">
                <a16:creationId xmlns:a16="http://schemas.microsoft.com/office/drawing/2014/main" id="{5E9154C3-DBB5-4642-A2D2-C985E67966B1}"/>
              </a:ext>
            </a:extLst>
          </p:cNvPr>
          <p:cNvSpPr>
            <a:spLocks xmlns:a="http://schemas.openxmlformats.org/drawingml/2006/main" noGrp="1"/>
          </p:cNvSpPr>
          <p:nvPr/>
        </p:nvSpPr>
        <p:spPr>
          <a:xfrm xmlns:a="http://schemas.openxmlformats.org/drawingml/2006/main">
            <a:off x="393668" y="2031968"/>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US27 · Eligibility check</a:t>
            </a:r>
          </a:p>
        </p:txBody>
      </p:sp>
      <p:sp>
        <p:nvSpPr>
          <p:cNvPr id="5" name="eligibility-copy">
            <a:extLst xmlns:a="http://schemas.openxmlformats.org/drawingml/2006/main">
              <a:ext uri="{FF2B5EF4-FFF2-40B4-BE49-F238E27FC236}">
                <a16:creationId xmlns:a16="http://schemas.microsoft.com/office/drawing/2014/main" id="{CD8FD6DC-B0CB-4354-96AC-3DA9B3ACFF48}"/>
              </a:ext>
            </a:extLst>
          </p:cNvPr>
          <p:cNvSpPr>
            <a:spLocks xmlns:a="http://schemas.openxmlformats.org/drawingml/2006/main" noGrp="1"/>
          </p:cNvSpPr>
          <p:nvPr/>
        </p:nvSpPr>
        <p:spPr>
          <a:xfrm xmlns:a="http://schemas.openxmlformats.org/drawingml/2006/main">
            <a:off x="393668" y="2628900"/>
            <a:ext cx="5537168" cy="2562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Applicants enter results and select</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their programme and admission route.</a:t>
            </a:r>
          </a:p>
          <a:p xmlns:a="http://schemas.openxmlformats.org/drawingml/2006/main">
            <a:r>
              <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The check distinguishes:</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 requirements met</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 a known requirement not met</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 insufficient information</a:t>
            </a:r>
          </a:p>
        </p:txBody>
      </p:sp>
      <p:sp>
        <p:nvSpPr>
          <p:cNvPr id="6" name="eligibility-boundary">
            <a:extLst xmlns:a="http://schemas.openxmlformats.org/drawingml/2006/main">
              <a:ext uri="{FF2B5EF4-FFF2-40B4-BE49-F238E27FC236}">
                <a16:creationId xmlns:a16="http://schemas.microsoft.com/office/drawing/2014/main" id="{65496DD7-4AD6-4CA7-8D18-04A22C564714}"/>
              </a:ext>
            </a:extLst>
          </p:cNvPr>
          <p:cNvSpPr>
            <a:spLocks xmlns:a="http://schemas.openxmlformats.org/drawingml/2006/main" noGrp="1"/>
          </p:cNvSpPr>
          <p:nvPr/>
        </p:nvSpPr>
        <p:spPr>
          <a:xfrm xmlns:a="http://schemas.openxmlformats.org/drawingml/2006/main">
            <a:off x="393668" y="5362575"/>
            <a:ext cx="553716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Sources and missing requirements stay</a:t>
            </a:r>
          </a:p>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visible. Admission is never guaranteed.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edd66a08924492d"/>
          <a:stretch xmlns:a="http://schemas.openxmlformats.org/drawingml/2006/main"/>
        </p:blipFill>
        <p:spPr>
          <a:xfrm xmlns:a="http://schemas.openxmlformats.org/drawingml/2006/main">
            <a:off x="6269069" y="490529"/>
            <a:ext cx="5539740" cy="5413837"/>
          </a:xfrm>
          <a:prstGeom xmlns:a="http://schemas.openxmlformats.org/drawingml/2006/main" prst="rect">
            <a:avLst/>
          </a:prstGeom>
        </p:spPr>
      </p:pic>
    </p:spTree>
    <p:extLst>
      <p:ext uri="{BB962C8B-B14F-4D97-AF65-F5344CB8AC3E}">
        <p14:creationId xmlns:p14="http://schemas.microsoft.com/office/powerpoint/2010/main" val="6243827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5DACB6BF-1A59-48FC-9BFD-1FF0AAF467FF}"/>
              </a:ext>
            </a:extLst>
          </p:cNvPr>
          <p:cNvSpPr>
            <a:spLocks xmlns:a="http://schemas.openxmlformats.org/drawingml/2006/main" noGrp="1"/>
          </p:cNvSpPr>
          <p:nvPr/>
        </p:nvSpPr>
        <p:spPr>
          <a:xfrm xmlns:a="http://schemas.openxmlformats.org/drawingml/2006/main">
            <a:off x="393668" y="344043"/>
            <a:ext cx="11404568"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11111"/>
                </a:solidFill>
                <a:latin typeface="Helvetica Neue"/>
                <a:ea typeface="Helvetica Neue"/>
                <a:cs typeface="Helvetica Neue"/>
              </a:defRPr>
            </a:pPr>
            <a:r>
              <a:rPr sz="3600" b="0">
                <a:solidFill>
                  <a:srgbClr val="111111"/>
                </a:solidFill>
                <a:latin typeface="Helvetica Neue"/>
                <a:ea typeface="Helvetica Neue"/>
                <a:cs typeface="Helvetica Neue"/>
              </a:rPr>
              <a:t>Estimate tuition from the right rates</a:t>
            </a:r>
          </a:p>
        </p:txBody>
      </p:sp>
      <p:sp>
        <p:nvSpPr>
          <p:cNvPr id="2" name="deck-footer">
            <a:extLst xmlns:a="http://schemas.openxmlformats.org/drawingml/2006/main">
              <a:ext uri="{FF2B5EF4-FFF2-40B4-BE49-F238E27FC236}">
                <a16:creationId xmlns:a16="http://schemas.microsoft.com/office/drawing/2014/main" id="{2B751576-DEF7-4E5C-887F-471FA25C70FD}"/>
              </a:ext>
            </a:extLst>
          </p:cNvPr>
          <p:cNvSpPr>
            <a:spLocks xmlns:a="http://schemas.openxmlformats.org/drawingml/2006/main" noGrp="1"/>
          </p:cNvSpPr>
          <p:nvPr/>
        </p:nvSpPr>
        <p:spPr>
          <a:xfrm xmlns:a="http://schemas.openxmlformats.org/drawingml/2006/main">
            <a:off x="393668" y="63341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SDU Admissions Portal  /  Sprint 6</a:t>
            </a:r>
          </a:p>
        </p:txBody>
      </p:sp>
      <p:sp>
        <p:nvSpPr>
          <p:cNvPr id="3" name="page-number">
            <a:extLst xmlns:a="http://schemas.openxmlformats.org/drawingml/2006/main">
              <a:ext uri="{FF2B5EF4-FFF2-40B4-BE49-F238E27FC236}">
                <a16:creationId xmlns:a16="http://schemas.microsoft.com/office/drawing/2014/main" id="{E67A2B45-2318-4011-99FE-DE642C3E19C5}"/>
              </a:ext>
            </a:extLst>
          </p:cNvPr>
          <p:cNvSpPr>
            <a:spLocks xmlns:a="http://schemas.openxmlformats.org/drawingml/2006/main" noGrp="1"/>
          </p:cNvSpPr>
          <p:nvPr/>
        </p:nvSpPr>
        <p:spPr>
          <a:xfrm xmlns:a="http://schemas.openxmlformats.org/drawingml/2006/main">
            <a:off x="11279315" y="6334125"/>
            <a:ext cx="51892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04</a:t>
            </a:r>
          </a:p>
        </p:txBody>
      </p:sp>
      <p:sp>
        <p:nvSpPr>
          <p:cNvPr id="4" name="cost-story">
            <a:extLst xmlns:a="http://schemas.openxmlformats.org/drawingml/2006/main">
              <a:ext uri="{FF2B5EF4-FFF2-40B4-BE49-F238E27FC236}">
                <a16:creationId xmlns:a16="http://schemas.microsoft.com/office/drawing/2014/main" id="{8B13D070-A34F-426A-B03C-FFB446A83BD7}"/>
              </a:ext>
            </a:extLst>
          </p:cNvPr>
          <p:cNvSpPr>
            <a:spLocks xmlns:a="http://schemas.openxmlformats.org/drawingml/2006/main" noGrp="1"/>
          </p:cNvSpPr>
          <p:nvPr/>
        </p:nvSpPr>
        <p:spPr>
          <a:xfrm xmlns:a="http://schemas.openxmlformats.org/drawingml/2006/main">
            <a:off x="393668" y="1638300"/>
            <a:ext cx="5537168"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US28 · Tuition calculator</a:t>
            </a:r>
          </a:p>
        </p:txBody>
      </p:sp>
      <p:sp>
        <p:nvSpPr>
          <p:cNvPr id="5" name="cost-example">
            <a:extLst xmlns:a="http://schemas.openxmlformats.org/drawingml/2006/main">
              <a:ext uri="{FF2B5EF4-FFF2-40B4-BE49-F238E27FC236}">
                <a16:creationId xmlns:a16="http://schemas.microsoft.com/office/drawing/2014/main" id="{E3C7BC1D-5639-4DFB-BB80-320CE328F158}"/>
              </a:ext>
            </a:extLst>
          </p:cNvPr>
          <p:cNvSpPr>
            <a:spLocks xmlns:a="http://schemas.openxmlformats.org/drawingml/2006/main" noGrp="1"/>
          </p:cNvSpPr>
          <p:nvPr/>
        </p:nvSpPr>
        <p:spPr>
          <a:xfrm xmlns:a="http://schemas.openxmlformats.org/drawingml/2006/main">
            <a:off x="393668" y="2257425"/>
            <a:ext cx="5537168"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1111"/>
                </a:solidFill>
                <a:latin typeface="Helvetica Neue"/>
                <a:ea typeface="Helvetica Neue"/>
                <a:cs typeface="Helvetica Neue"/>
              </a:defRPr>
            </a:pPr>
            <a:r>
              <a:rPr sz="2100" b="0">
                <a:solidFill>
                  <a:srgbClr val="111111"/>
                </a:solidFill>
                <a:latin typeface="Helvetica Neue"/>
                <a:ea typeface="Helvetica Neue"/>
                <a:cs typeface="Helvetica Neue"/>
              </a:rPr>
              <a:t>Computer Science · 6B06102</a:t>
            </a:r>
          </a:p>
        </p:txBody>
      </p:sp>
      <p:sp>
        <p:nvSpPr>
          <p:cNvPr id="6" name="cost-calculation">
            <a:extLst xmlns:a="http://schemas.openxmlformats.org/drawingml/2006/main">
              <a:ext uri="{FF2B5EF4-FFF2-40B4-BE49-F238E27FC236}">
                <a16:creationId xmlns:a16="http://schemas.microsoft.com/office/drawing/2014/main" id="{7A226E7B-F3D2-417B-80AE-313CB80EDE1D}"/>
              </a:ext>
            </a:extLst>
          </p:cNvPr>
          <p:cNvSpPr>
            <a:spLocks xmlns:a="http://schemas.openxmlformats.org/drawingml/2006/main" noGrp="1"/>
          </p:cNvSpPr>
          <p:nvPr/>
        </p:nvSpPr>
        <p:spPr>
          <a:xfrm xmlns:a="http://schemas.openxmlformats.org/drawingml/2006/main">
            <a:off x="393668" y="2914650"/>
            <a:ext cx="553716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75B60"/>
                </a:solidFill>
                <a:latin typeface="Helvetica Neue"/>
                <a:ea typeface="Helvetica Neue"/>
                <a:cs typeface="Helvetica Neue"/>
              </a:defRPr>
            </a:pPr>
            <a:r>
              <a:rPr sz="1950" b="0">
                <a:solidFill>
                  <a:srgbClr val="575B60"/>
                </a:solidFill>
                <a:latin typeface="Helvetica Neue"/>
                <a:ea typeface="Helvetica Neue"/>
                <a:cs typeface="Helvetica Neue"/>
              </a:rPr>
              <a:t>20 professional credits × 33,000 KZT</a:t>
            </a:r>
          </a:p>
          <a:p xmlns:a="http://schemas.openxmlformats.org/drawingml/2006/main">
            <a:pPr algn="l">
              <a:defRPr sz="1950" b="0">
                <a:solidFill>
                  <a:srgbClr val="575B60"/>
                </a:solidFill>
                <a:latin typeface="Helvetica Neue"/>
                <a:ea typeface="Helvetica Neue"/>
                <a:cs typeface="Helvetica Neue"/>
              </a:defRPr>
            </a:pPr>
            <a:r>
              <a:rPr sz="1950" b="0">
                <a:solidFill>
                  <a:srgbClr val="575B60"/>
                </a:solidFill>
                <a:latin typeface="Helvetica Neue"/>
                <a:ea typeface="Helvetica Neue"/>
                <a:cs typeface="Helvetica Neue"/>
              </a:rPr>
              <a:t>10 MDE credits × 19,000 KZT</a:t>
            </a:r>
          </a:p>
        </p:txBody>
      </p:sp>
      <p:sp>
        <p:nvSpPr>
          <p:cNvPr id="7" name="cost-total">
            <a:extLst xmlns:a="http://schemas.openxmlformats.org/drawingml/2006/main">
              <a:ext uri="{FF2B5EF4-FFF2-40B4-BE49-F238E27FC236}">
                <a16:creationId xmlns:a16="http://schemas.microsoft.com/office/drawing/2014/main" id="{4E78439C-69D0-4C33-9476-953039102935}"/>
              </a:ext>
            </a:extLst>
          </p:cNvPr>
          <p:cNvSpPr>
            <a:spLocks xmlns:a="http://schemas.openxmlformats.org/drawingml/2006/main" noGrp="1"/>
          </p:cNvSpPr>
          <p:nvPr/>
        </p:nvSpPr>
        <p:spPr>
          <a:xfrm xmlns:a="http://schemas.openxmlformats.org/drawingml/2006/main">
            <a:off x="393668" y="4010025"/>
            <a:ext cx="5537168"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850,000 KZT</a:t>
            </a:r>
          </a:p>
        </p:txBody>
      </p:sp>
      <p:sp>
        <p:nvSpPr>
          <p:cNvPr id="8" name="cost-boundary">
            <a:extLst xmlns:a="http://schemas.openxmlformats.org/drawingml/2006/main">
              <a:ext uri="{FF2B5EF4-FFF2-40B4-BE49-F238E27FC236}">
                <a16:creationId xmlns:a16="http://schemas.microsoft.com/office/drawing/2014/main" id="{5CEA4CF5-808D-44CC-9C83-0DD0955BE404}"/>
              </a:ext>
            </a:extLst>
          </p:cNvPr>
          <p:cNvSpPr>
            <a:spLocks xmlns:a="http://schemas.openxmlformats.org/drawingml/2006/main" noGrp="1"/>
          </p:cNvSpPr>
          <p:nvPr/>
        </p:nvSpPr>
        <p:spPr>
          <a:xfrm xmlns:a="http://schemas.openxmlformats.org/drawingml/2006/main">
            <a:off x="393668" y="5172075"/>
            <a:ext cx="5537168"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Estimate for this credit bundle.</a:t>
            </a:r>
          </a:p>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The study plan and future rates matter.</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b7941a9dc534067"/>
          <a:stretch xmlns:a="http://schemas.openxmlformats.org/drawingml/2006/main"/>
        </p:blipFill>
        <p:spPr>
          <a:xfrm xmlns:a="http://schemas.openxmlformats.org/drawingml/2006/main">
            <a:off x="6482415" y="2031968"/>
            <a:ext cx="5085522" cy="3534823"/>
          </a:xfrm>
          <a:prstGeom xmlns:a="http://schemas.openxmlformats.org/drawingml/2006/main" prst="rect">
            <a:avLst/>
          </a:prstGeom>
        </p:spPr>
      </p:pic>
    </p:spTree>
    <p:extLst>
      <p:ext uri="{BB962C8B-B14F-4D97-AF65-F5344CB8AC3E}">
        <p14:creationId xmlns:p14="http://schemas.microsoft.com/office/powerpoint/2010/main" val="1708136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ck-footer">
            <a:extLst xmlns:a="http://schemas.openxmlformats.org/drawingml/2006/main">
              <a:ext uri="{FF2B5EF4-FFF2-40B4-BE49-F238E27FC236}">
                <a16:creationId xmlns:a16="http://schemas.microsoft.com/office/drawing/2014/main" id="{B85C38A0-E3FE-4DEB-A066-A91E9A24480A}"/>
              </a:ext>
            </a:extLst>
          </p:cNvPr>
          <p:cNvSpPr>
            <a:spLocks xmlns:a="http://schemas.openxmlformats.org/drawingml/2006/main" noGrp="1"/>
          </p:cNvSpPr>
          <p:nvPr/>
        </p:nvSpPr>
        <p:spPr>
          <a:xfrm xmlns:a="http://schemas.openxmlformats.org/drawingml/2006/main">
            <a:off x="393668" y="63341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SDU Admissions Portal  /  Sprint 6</a:t>
            </a:r>
          </a:p>
        </p:txBody>
      </p:sp>
      <p:sp>
        <p:nvSpPr>
          <p:cNvPr id="2" name="page-number">
            <a:extLst xmlns:a="http://schemas.openxmlformats.org/drawingml/2006/main">
              <a:ext uri="{FF2B5EF4-FFF2-40B4-BE49-F238E27FC236}">
                <a16:creationId xmlns:a16="http://schemas.microsoft.com/office/drawing/2014/main" id="{FC087931-AAA3-41AA-925C-E73BB4A97B09}"/>
              </a:ext>
            </a:extLst>
          </p:cNvPr>
          <p:cNvSpPr>
            <a:spLocks xmlns:a="http://schemas.openxmlformats.org/drawingml/2006/main" noGrp="1"/>
          </p:cNvSpPr>
          <p:nvPr/>
        </p:nvSpPr>
        <p:spPr>
          <a:xfrm xmlns:a="http://schemas.openxmlformats.org/drawingml/2006/main">
            <a:off x="11279315" y="6334125"/>
            <a:ext cx="51892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05</a:t>
            </a:r>
          </a:p>
        </p:txBody>
      </p:sp>
      <p:sp>
        <p:nvSpPr>
          <p:cNvPr id="3" name="slide-title">
            <a:extLst xmlns:a="http://schemas.openxmlformats.org/drawingml/2006/main">
              <a:ext uri="{FF2B5EF4-FFF2-40B4-BE49-F238E27FC236}">
                <a16:creationId xmlns:a16="http://schemas.microsoft.com/office/drawing/2014/main" id="{6C7800A1-19DE-4370-8F3E-701929B43B30}"/>
              </a:ext>
            </a:extLst>
          </p:cNvPr>
          <p:cNvSpPr>
            <a:spLocks xmlns:a="http://schemas.openxmlformats.org/drawingml/2006/main" noGrp="1"/>
          </p:cNvSpPr>
          <p:nvPr/>
        </p:nvSpPr>
        <p:spPr>
          <a:xfrm xmlns:a="http://schemas.openxmlformats.org/drawingml/2006/main">
            <a:off x="393668" y="344043"/>
            <a:ext cx="5537168"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11111"/>
                </a:solidFill>
                <a:latin typeface="Helvetica Neue"/>
                <a:ea typeface="Helvetica Neue"/>
                <a:cs typeface="Helvetica Neue"/>
              </a:defRPr>
            </a:pPr>
            <a:r>
              <a:rPr sz="3600" b="0">
                <a:solidFill>
                  <a:srgbClr val="111111"/>
                </a:solidFill>
                <a:latin typeface="Helvetica Neue"/>
                <a:ea typeface="Helvetica Neue"/>
                <a:cs typeface="Helvetica Neue"/>
              </a:rPr>
              <a:t>Find programmes</a:t>
            </a:r>
          </a:p>
          <a:p xmlns:a="http://schemas.openxmlformats.org/drawingml/2006/main">
            <a:pPr algn="l">
              <a:defRPr sz="3600" b="0">
                <a:solidFill>
                  <a:srgbClr val="111111"/>
                </a:solidFill>
                <a:latin typeface="Helvetica Neue"/>
                <a:ea typeface="Helvetica Neue"/>
                <a:cs typeface="Helvetica Neue"/>
              </a:defRPr>
            </a:pPr>
            <a:r>
              <a:rPr sz="3600" b="0">
                <a:solidFill>
                  <a:srgbClr val="111111"/>
                </a:solidFill>
                <a:latin typeface="Helvetica Neue"/>
                <a:ea typeface="Helvetica Neue"/>
                <a:cs typeface="Helvetica Neue"/>
              </a:rPr>
              <a:t>that fit</a:t>
            </a:r>
          </a:p>
        </p:txBody>
      </p:sp>
      <p:sp>
        <p:nvSpPr>
          <p:cNvPr id="4" name="story-label">
            <a:extLst xmlns:a="http://schemas.openxmlformats.org/drawingml/2006/main">
              <a:ext uri="{FF2B5EF4-FFF2-40B4-BE49-F238E27FC236}">
                <a16:creationId xmlns:a16="http://schemas.microsoft.com/office/drawing/2014/main" id="{6CE23A4D-048F-466C-8F88-674B600CF85A}"/>
              </a:ext>
            </a:extLst>
          </p:cNvPr>
          <p:cNvSpPr>
            <a:spLocks xmlns:a="http://schemas.openxmlformats.org/drawingml/2006/main" noGrp="1"/>
          </p:cNvSpPr>
          <p:nvPr/>
        </p:nvSpPr>
        <p:spPr>
          <a:xfrm xmlns:a="http://schemas.openxmlformats.org/drawingml/2006/main">
            <a:off x="393668" y="2031968"/>
            <a:ext cx="55371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US5 · Recommendations</a:t>
            </a:r>
          </a:p>
        </p:txBody>
      </p:sp>
      <p:sp>
        <p:nvSpPr>
          <p:cNvPr id="5" name="recommendation-copy">
            <a:extLst xmlns:a="http://schemas.openxmlformats.org/drawingml/2006/main">
              <a:ext uri="{FF2B5EF4-FFF2-40B4-BE49-F238E27FC236}">
                <a16:creationId xmlns:a16="http://schemas.microsoft.com/office/drawing/2014/main" id="{2BE49989-9089-4884-BCDB-79AB9F4FBB0D}"/>
              </a:ext>
            </a:extLst>
          </p:cNvPr>
          <p:cNvSpPr>
            <a:spLocks xmlns:a="http://schemas.openxmlformats.org/drawingml/2006/main" noGrp="1"/>
          </p:cNvSpPr>
          <p:nvPr/>
        </p:nvSpPr>
        <p:spPr>
          <a:xfrm xmlns:a="http://schemas.openxmlformats.org/drawingml/2006/main">
            <a:off x="393668" y="2628900"/>
            <a:ext cx="5537168"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An interest and results questionnaire</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returns up to three active programmes.</a:t>
            </a:r>
          </a:p>
          <a:p xmlns:a="http://schemas.openxmlformats.org/drawingml/2006/main">
            <a:r>
              <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Known requirement failures are excluded.</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Missing information remains explicit.</a:t>
            </a:r>
          </a:p>
          <a:p xmlns:a="http://schemas.openxmlformats.org/drawingml/2006/main">
            <a:r>
              <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Each result links to programme details</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and the existing comparison page.</a:t>
            </a:r>
          </a:p>
        </p:txBody>
      </p:sp>
      <p:sp>
        <p:nvSpPr>
          <p:cNvPr id="6" name="recommendation-boundary">
            <a:extLst xmlns:a="http://schemas.openxmlformats.org/drawingml/2006/main">
              <a:ext uri="{FF2B5EF4-FFF2-40B4-BE49-F238E27FC236}">
                <a16:creationId xmlns:a16="http://schemas.microsoft.com/office/drawing/2014/main" id="{540B109C-3386-4024-BFB5-E9D1121CE50B}"/>
              </a:ext>
            </a:extLst>
          </p:cNvPr>
          <p:cNvSpPr>
            <a:spLocks xmlns:a="http://schemas.openxmlformats.org/drawingml/2006/main" noGrp="1"/>
          </p:cNvSpPr>
          <p:nvPr/>
        </p:nvSpPr>
        <p:spPr>
          <a:xfrm xmlns:a="http://schemas.openxmlformats.org/drawingml/2006/main">
            <a:off x="393668" y="5429250"/>
            <a:ext cx="5537168"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Gemini selects allowed explanation labels;</a:t>
            </a:r>
          </a:p>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template explanations provide a fallback.</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49a8229900d4330"/>
          <a:stretch xmlns:a="http://schemas.openxmlformats.org/drawingml/2006/main"/>
        </p:blipFill>
        <p:spPr>
          <a:xfrm xmlns:a="http://schemas.openxmlformats.org/drawingml/2006/main">
            <a:off x="7150131" y="396431"/>
            <a:ext cx="3777616" cy="5602034"/>
          </a:xfrm>
          <a:prstGeom xmlns:a="http://schemas.openxmlformats.org/drawingml/2006/main" prst="rect">
            <a:avLst/>
          </a:prstGeom>
        </p:spPr>
      </p:pic>
    </p:spTree>
    <p:extLst>
      <p:ext uri="{BB962C8B-B14F-4D97-AF65-F5344CB8AC3E}">
        <p14:creationId xmlns:p14="http://schemas.microsoft.com/office/powerpoint/2010/main" val="6758668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87CE66D-4FA6-498B-BB37-02B0B460EA36}"/>
              </a:ext>
            </a:extLst>
          </p:cNvPr>
          <p:cNvSpPr>
            <a:spLocks xmlns:a="http://schemas.openxmlformats.org/drawingml/2006/main" noGrp="1"/>
          </p:cNvSpPr>
          <p:nvPr/>
        </p:nvSpPr>
        <p:spPr>
          <a:xfrm xmlns:a="http://schemas.openxmlformats.org/drawingml/2006/main">
            <a:off x="393668" y="344043"/>
            <a:ext cx="11404568"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11111"/>
                </a:solidFill>
                <a:latin typeface="Helvetica Neue"/>
                <a:ea typeface="Helvetica Neue"/>
                <a:cs typeface="Helvetica Neue"/>
              </a:defRPr>
            </a:pPr>
            <a:r>
              <a:rPr sz="3600" b="0">
                <a:solidFill>
                  <a:srgbClr val="111111"/>
                </a:solidFill>
                <a:latin typeface="Helvetica Neue"/>
                <a:ea typeface="Helvetica Neue"/>
                <a:cs typeface="Helvetica Neue"/>
              </a:rPr>
              <a:t>Funding information keeps its source</a:t>
            </a:r>
          </a:p>
        </p:txBody>
      </p:sp>
      <p:sp>
        <p:nvSpPr>
          <p:cNvPr id="2" name="deck-footer">
            <a:extLst xmlns:a="http://schemas.openxmlformats.org/drawingml/2006/main">
              <a:ext uri="{FF2B5EF4-FFF2-40B4-BE49-F238E27FC236}">
                <a16:creationId xmlns:a16="http://schemas.microsoft.com/office/drawing/2014/main" id="{8775816D-466B-43E1-A34E-DA259954C34D}"/>
              </a:ext>
            </a:extLst>
          </p:cNvPr>
          <p:cNvSpPr>
            <a:spLocks xmlns:a="http://schemas.openxmlformats.org/drawingml/2006/main" noGrp="1"/>
          </p:cNvSpPr>
          <p:nvPr/>
        </p:nvSpPr>
        <p:spPr>
          <a:xfrm xmlns:a="http://schemas.openxmlformats.org/drawingml/2006/main">
            <a:off x="393668" y="63341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SDU Admissions Portal  /  Sprint 6</a:t>
            </a:r>
          </a:p>
        </p:txBody>
      </p:sp>
      <p:sp>
        <p:nvSpPr>
          <p:cNvPr id="3" name="page-number">
            <a:extLst xmlns:a="http://schemas.openxmlformats.org/drawingml/2006/main">
              <a:ext uri="{FF2B5EF4-FFF2-40B4-BE49-F238E27FC236}">
                <a16:creationId xmlns:a16="http://schemas.microsoft.com/office/drawing/2014/main" id="{FBBA6380-BA80-4B7E-9399-A959A9BF1B85}"/>
              </a:ext>
            </a:extLst>
          </p:cNvPr>
          <p:cNvSpPr>
            <a:spLocks xmlns:a="http://schemas.openxmlformats.org/drawingml/2006/main" noGrp="1"/>
          </p:cNvSpPr>
          <p:nvPr/>
        </p:nvSpPr>
        <p:spPr>
          <a:xfrm xmlns:a="http://schemas.openxmlformats.org/drawingml/2006/main">
            <a:off x="11279315" y="6334125"/>
            <a:ext cx="51892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06</a:t>
            </a:r>
          </a:p>
        </p:txBody>
      </p:sp>
      <p:sp>
        <p:nvSpPr>
          <p:cNvPr id="4" name="funding-story">
            <a:extLst xmlns:a="http://schemas.openxmlformats.org/drawingml/2006/main">
              <a:ext uri="{FF2B5EF4-FFF2-40B4-BE49-F238E27FC236}">
                <a16:creationId xmlns:a16="http://schemas.microsoft.com/office/drawing/2014/main" id="{68D99C11-E176-4E4C-9F94-043D205B4D48}"/>
              </a:ext>
            </a:extLst>
          </p:cNvPr>
          <p:cNvSpPr>
            <a:spLocks xmlns:a="http://schemas.openxmlformats.org/drawingml/2006/main" noGrp="1"/>
          </p:cNvSpPr>
          <p:nvPr/>
        </p:nvSpPr>
        <p:spPr>
          <a:xfrm xmlns:a="http://schemas.openxmlformats.org/drawingml/2006/main">
            <a:off x="393668" y="1524000"/>
            <a:ext cx="11404568"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US29 · Grants and scholarships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d1d16c114624c75"/>
          <a:stretch xmlns:a="http://schemas.openxmlformats.org/drawingml/2006/main"/>
        </p:blipFill>
        <p:spPr>
          <a:xfrm xmlns:a="http://schemas.openxmlformats.org/drawingml/2006/main">
            <a:off x="393668" y="2293466"/>
            <a:ext cx="5537168" cy="3471217"/>
          </a:xfrm>
          <a:prstGeom xmlns:a="http://schemas.openxmlformats.org/drawingml/2006/main" prst="rect">
            <a:avLst/>
          </a:prstGeom>
        </p:spPr>
      </p:pic>
      <p:sp>
        <p:nvSpPr>
          <p:cNvPr id="6" name="funding-heading">
            <a:extLst xmlns:a="http://schemas.openxmlformats.org/drawingml/2006/main">
              <a:ext uri="{FF2B5EF4-FFF2-40B4-BE49-F238E27FC236}">
                <a16:creationId xmlns:a16="http://schemas.microsoft.com/office/drawing/2014/main" id="{90DD66C1-85E7-40C1-A8FB-16CCF1EEC3AC}"/>
              </a:ext>
            </a:extLst>
          </p:cNvPr>
          <p:cNvSpPr>
            <a:spLocks xmlns:a="http://schemas.openxmlformats.org/drawingml/2006/main" noGrp="1"/>
          </p:cNvSpPr>
          <p:nvPr/>
        </p:nvSpPr>
        <p:spPr>
          <a:xfrm xmlns:a="http://schemas.openxmlformats.org/drawingml/2006/main">
            <a:off x="6256592" y="2266950"/>
            <a:ext cx="5537168"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Make funding easier to explore</a:t>
            </a:r>
          </a:p>
        </p:txBody>
      </p:sp>
      <p:sp>
        <p:nvSpPr>
          <p:cNvPr id="7" name="funding-copy">
            <a:extLst xmlns:a="http://schemas.openxmlformats.org/drawingml/2006/main">
              <a:ext uri="{FF2B5EF4-FFF2-40B4-BE49-F238E27FC236}">
                <a16:creationId xmlns:a16="http://schemas.microsoft.com/office/drawing/2014/main" id="{C566B0A3-8B98-42F2-9BB7-E5AE1E49F953}"/>
              </a:ext>
            </a:extLst>
          </p:cNvPr>
          <p:cNvSpPr>
            <a:spLocks xmlns:a="http://schemas.openxmlformats.org/drawingml/2006/main" noGrp="1"/>
          </p:cNvSpPr>
          <p:nvPr/>
        </p:nvSpPr>
        <p:spPr>
          <a:xfrm xmlns:a="http://schemas.openxmlformats.org/drawingml/2006/main">
            <a:off x="6256592" y="3305175"/>
            <a:ext cx="5537168"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Read published grants and discounts.</a:t>
            </a:r>
          </a:p>
          <a:p xmlns:a="http://schemas.openxmlformats.org/drawingml/2006/main">
            <a:r>
              <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Filter by degree and applicant category.</a:t>
            </a:r>
          </a:p>
          <a:p xmlns:a="http://schemas.openxmlformats.org/drawingml/2006/main">
            <a:r>
              <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See source links, check dates and</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translation or campaign warnings.</a:t>
            </a:r>
          </a:p>
        </p:txBody>
      </p:sp>
      <p:sp>
        <p:nvSpPr>
          <p:cNvPr id="8" name="funding-boundary">
            <a:extLst xmlns:a="http://schemas.openxmlformats.org/drawingml/2006/main">
              <a:ext uri="{FF2B5EF4-FFF2-40B4-BE49-F238E27FC236}">
                <a16:creationId xmlns:a16="http://schemas.microsoft.com/office/drawing/2014/main" id="{F88C95D9-AB2A-406A-8E19-E496CF82C3F4}"/>
              </a:ext>
            </a:extLst>
          </p:cNvPr>
          <p:cNvSpPr>
            <a:spLocks xmlns:a="http://schemas.openxmlformats.org/drawingml/2006/main" noGrp="1"/>
          </p:cNvSpPr>
          <p:nvPr/>
        </p:nvSpPr>
        <p:spPr>
          <a:xfrm xmlns:a="http://schemas.openxmlformats.org/drawingml/2006/main">
            <a:off x="6256592" y="5429250"/>
            <a:ext cx="5537168"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Awards and current availability require</a:t>
            </a:r>
          </a:p>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confirmation by the admissions office.</a:t>
            </a:r>
          </a:p>
        </p:txBody>
      </p:sp>
    </p:spTree>
    <p:extLst>
      <p:ext uri="{BB962C8B-B14F-4D97-AF65-F5344CB8AC3E}">
        <p14:creationId xmlns:p14="http://schemas.microsoft.com/office/powerpoint/2010/main" val="5264469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F2369BE5-F79E-4D96-82FF-327279CFB752}"/>
              </a:ext>
            </a:extLst>
          </p:cNvPr>
          <p:cNvSpPr>
            <a:spLocks xmlns:a="http://schemas.openxmlformats.org/drawingml/2006/main" noGrp="1"/>
          </p:cNvSpPr>
          <p:nvPr/>
        </p:nvSpPr>
        <p:spPr>
          <a:xfrm xmlns:a="http://schemas.openxmlformats.org/drawingml/2006/main">
            <a:off x="393668" y="344043"/>
            <a:ext cx="11404568"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11111"/>
                </a:solidFill>
                <a:latin typeface="Helvetica Neue"/>
                <a:ea typeface="Helvetica Neue"/>
                <a:cs typeface="Helvetica Neue"/>
              </a:defRPr>
            </a:pPr>
            <a:r>
              <a:rPr sz="3600" b="0">
                <a:solidFill>
                  <a:srgbClr val="111111"/>
                </a:solidFill>
                <a:latin typeface="Helvetica Neue"/>
                <a:ea typeface="Helvetica Neue"/>
                <a:cs typeface="Helvetica Neue"/>
              </a:rPr>
              <a:t>A question can reach a real person</a:t>
            </a:r>
          </a:p>
        </p:txBody>
      </p:sp>
      <p:sp>
        <p:nvSpPr>
          <p:cNvPr id="2" name="deck-footer">
            <a:extLst xmlns:a="http://schemas.openxmlformats.org/drawingml/2006/main">
              <a:ext uri="{FF2B5EF4-FFF2-40B4-BE49-F238E27FC236}">
                <a16:creationId xmlns:a16="http://schemas.microsoft.com/office/drawing/2014/main" id="{34E3A5F2-A291-42DD-8FB5-0227F875DAED}"/>
              </a:ext>
            </a:extLst>
          </p:cNvPr>
          <p:cNvSpPr>
            <a:spLocks xmlns:a="http://schemas.openxmlformats.org/drawingml/2006/main" noGrp="1"/>
          </p:cNvSpPr>
          <p:nvPr/>
        </p:nvSpPr>
        <p:spPr>
          <a:xfrm xmlns:a="http://schemas.openxmlformats.org/drawingml/2006/main">
            <a:off x="393668" y="63341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SDU Admissions Portal  /  Sprint 6</a:t>
            </a:r>
          </a:p>
        </p:txBody>
      </p:sp>
      <p:sp>
        <p:nvSpPr>
          <p:cNvPr id="3" name="page-number">
            <a:extLst xmlns:a="http://schemas.openxmlformats.org/drawingml/2006/main">
              <a:ext uri="{FF2B5EF4-FFF2-40B4-BE49-F238E27FC236}">
                <a16:creationId xmlns:a16="http://schemas.microsoft.com/office/drawing/2014/main" id="{8CB29D65-364C-4898-8B2E-5F3C38548370}"/>
              </a:ext>
            </a:extLst>
          </p:cNvPr>
          <p:cNvSpPr>
            <a:spLocks xmlns:a="http://schemas.openxmlformats.org/drawingml/2006/main" noGrp="1"/>
          </p:cNvSpPr>
          <p:nvPr/>
        </p:nvSpPr>
        <p:spPr>
          <a:xfrm xmlns:a="http://schemas.openxmlformats.org/drawingml/2006/main">
            <a:off x="11279315" y="6334125"/>
            <a:ext cx="51892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07</a:t>
            </a:r>
          </a:p>
        </p:txBody>
      </p:sp>
      <p:sp>
        <p:nvSpPr>
          <p:cNvPr id="4" name="handoff-story">
            <a:extLst xmlns:a="http://schemas.openxmlformats.org/drawingml/2006/main">
              <a:ext uri="{FF2B5EF4-FFF2-40B4-BE49-F238E27FC236}">
                <a16:creationId xmlns:a16="http://schemas.microsoft.com/office/drawing/2014/main" id="{F84BFB43-B373-4665-BF9C-B004185013B5}"/>
              </a:ext>
            </a:extLst>
          </p:cNvPr>
          <p:cNvSpPr>
            <a:spLocks xmlns:a="http://schemas.openxmlformats.org/drawingml/2006/main" noGrp="1"/>
          </p:cNvSpPr>
          <p:nvPr/>
        </p:nvSpPr>
        <p:spPr>
          <a:xfrm xmlns:a="http://schemas.openxmlformats.org/drawingml/2006/main">
            <a:off x="393668" y="1524000"/>
            <a:ext cx="1140456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US30 · Private admissions handoff</a:t>
            </a:r>
          </a:p>
        </p:txBody>
      </p:sp>
      <p:sp>
        <p:nvSpPr>
          <p:cNvPr id="5" name="handoff-connector">
            <a:extLst xmlns:a="http://schemas.openxmlformats.org/drawingml/2006/main">
              <a:ext uri="{FF2B5EF4-FFF2-40B4-BE49-F238E27FC236}">
                <a16:creationId xmlns:a16="http://schemas.microsoft.com/office/drawing/2014/main" id="{80E68FA8-FFA2-43C0-BCD1-F9DA01B7FFE2}"/>
              </a:ext>
            </a:extLst>
          </p:cNvPr>
          <p:cNvSpPr>
            <a:spLocks xmlns:a="http://schemas.openxmlformats.org/drawingml/2006/main" noGrp="1"/>
          </p:cNvSpPr>
          <p:nvPr/>
        </p:nvSpPr>
        <p:spPr>
          <a:xfrm xmlns:a="http://schemas.openxmlformats.org/drawingml/2006/main">
            <a:off x="393668" y="3373755"/>
            <a:ext cx="11404568" cy="0"/>
          </a:xfrm>
          <a:prstGeom xmlns:a="http://schemas.openxmlformats.org/drawingml/2006/main" prst="line">
            <a:avLst/>
          </a:prstGeom>
          <a:noFill xmlns:a="http://schemas.openxmlformats.org/drawingml/2006/main"/>
          <a:ln xmlns:a="http://schemas.openxmlformats.org/drawingml/2006/main" w="19050">
            <a:solidFill>
              <a:srgbClr val="B8BCC4"/>
            </a:solidFill>
          </a:ln>
        </p:spPr>
      </p:sp>
      <p:sp>
        <p:nvSpPr>
          <p:cNvPr id="6" name="handoff-node-0">
            <a:extLst xmlns:a="http://schemas.openxmlformats.org/drawingml/2006/main">
              <a:ext uri="{FF2B5EF4-FFF2-40B4-BE49-F238E27FC236}">
                <a16:creationId xmlns:a16="http://schemas.microsoft.com/office/drawing/2014/main" id="{B949064E-2C06-4B2F-AE76-7485BE83CACF}"/>
              </a:ext>
            </a:extLst>
          </p:cNvPr>
          <p:cNvSpPr>
            <a:spLocks xmlns:a="http://schemas.openxmlformats.org/drawingml/2006/main" noGrp="1"/>
          </p:cNvSpPr>
          <p:nvPr/>
        </p:nvSpPr>
        <p:spPr>
          <a:xfrm xmlns:a="http://schemas.openxmlformats.org/drawingml/2006/main">
            <a:off x="346043" y="3320415"/>
            <a:ext cx="107061" cy="107061"/>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7" name="handoff-role-0">
            <a:extLst xmlns:a="http://schemas.openxmlformats.org/drawingml/2006/main">
              <a:ext uri="{FF2B5EF4-FFF2-40B4-BE49-F238E27FC236}">
                <a16:creationId xmlns:a16="http://schemas.microsoft.com/office/drawing/2014/main" id="{320F804B-9A3F-46BB-8BFD-BB779B005F16}"/>
              </a:ext>
            </a:extLst>
          </p:cNvPr>
          <p:cNvSpPr>
            <a:spLocks xmlns:a="http://schemas.openxmlformats.org/drawingml/2006/main" noGrp="1"/>
          </p:cNvSpPr>
          <p:nvPr/>
        </p:nvSpPr>
        <p:spPr>
          <a:xfrm xmlns:a="http://schemas.openxmlformats.org/drawingml/2006/main">
            <a:off x="393668" y="2843308"/>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01 · Applicant</a:t>
            </a:r>
          </a:p>
        </p:txBody>
      </p:sp>
      <p:sp>
        <p:nvSpPr>
          <p:cNvPr id="8" name="handoff-heading-0">
            <a:extLst xmlns:a="http://schemas.openxmlformats.org/drawingml/2006/main">
              <a:ext uri="{FF2B5EF4-FFF2-40B4-BE49-F238E27FC236}">
                <a16:creationId xmlns:a16="http://schemas.microsoft.com/office/drawing/2014/main" id="{7063BAD5-CD43-4D06-BC78-A53508F2D2C8}"/>
              </a:ext>
            </a:extLst>
          </p:cNvPr>
          <p:cNvSpPr>
            <a:spLocks xmlns:a="http://schemas.openxmlformats.org/drawingml/2006/main" noGrp="1"/>
          </p:cNvSpPr>
          <p:nvPr/>
        </p:nvSpPr>
        <p:spPr>
          <a:xfrm xmlns:a="http://schemas.openxmlformats.org/drawingml/2006/main">
            <a:off x="393668" y="3822668"/>
            <a:ext cx="3381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Submit a question</a:t>
            </a:r>
          </a:p>
        </p:txBody>
      </p:sp>
      <p:sp>
        <p:nvSpPr>
          <p:cNvPr id="9" name="handoff-copy-0">
            <a:extLst xmlns:a="http://schemas.openxmlformats.org/drawingml/2006/main">
              <a:ext uri="{FF2B5EF4-FFF2-40B4-BE49-F238E27FC236}">
                <a16:creationId xmlns:a16="http://schemas.microsoft.com/office/drawing/2014/main" id="{C9B8746D-35F4-487A-97E8-7F1C6D041F89}"/>
              </a:ext>
            </a:extLst>
          </p:cNvPr>
          <p:cNvSpPr>
            <a:spLocks xmlns:a="http://schemas.openxmlformats.org/drawingml/2006/main" noGrp="1"/>
          </p:cNvSpPr>
          <p:nvPr/>
        </p:nvSpPr>
        <p:spPr>
          <a:xfrm xmlns:a="http://schemas.openxmlformats.org/drawingml/2006/main">
            <a:off x="393668" y="4410075"/>
            <a:ext cx="3381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Send from a verified</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account and keep the</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question private.</a:t>
            </a:r>
          </a:p>
        </p:txBody>
      </p:sp>
      <p:sp>
        <p:nvSpPr>
          <p:cNvPr id="10" name="handoff-node-1">
            <a:extLst xmlns:a="http://schemas.openxmlformats.org/drawingml/2006/main">
              <a:ext uri="{FF2B5EF4-FFF2-40B4-BE49-F238E27FC236}">
                <a16:creationId xmlns:a16="http://schemas.microsoft.com/office/drawing/2014/main" id="{3A38CC0C-BE87-4C21-B73C-6F368CA84E9B}"/>
              </a:ext>
            </a:extLst>
          </p:cNvPr>
          <p:cNvSpPr>
            <a:spLocks xmlns:a="http://schemas.openxmlformats.org/drawingml/2006/main" noGrp="1"/>
          </p:cNvSpPr>
          <p:nvPr/>
        </p:nvSpPr>
        <p:spPr>
          <a:xfrm xmlns:a="http://schemas.openxmlformats.org/drawingml/2006/main">
            <a:off x="4264057" y="3320415"/>
            <a:ext cx="107061" cy="107061"/>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1" name="handoff-role-1">
            <a:extLst xmlns:a="http://schemas.openxmlformats.org/drawingml/2006/main">
              <a:ext uri="{FF2B5EF4-FFF2-40B4-BE49-F238E27FC236}">
                <a16:creationId xmlns:a16="http://schemas.microsoft.com/office/drawing/2014/main" id="{BC548DA1-9E40-4881-A86F-49B8766B3F19}"/>
              </a:ext>
            </a:extLst>
          </p:cNvPr>
          <p:cNvSpPr>
            <a:spLocks xmlns:a="http://schemas.openxmlformats.org/drawingml/2006/main" noGrp="1"/>
          </p:cNvSpPr>
          <p:nvPr/>
        </p:nvSpPr>
        <p:spPr>
          <a:xfrm xmlns:a="http://schemas.openxmlformats.org/drawingml/2006/main">
            <a:off x="4311682" y="2843308"/>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02 · Staff</a:t>
            </a:r>
          </a:p>
        </p:txBody>
      </p:sp>
      <p:sp>
        <p:nvSpPr>
          <p:cNvPr id="12" name="handoff-heading-1">
            <a:extLst xmlns:a="http://schemas.openxmlformats.org/drawingml/2006/main">
              <a:ext uri="{FF2B5EF4-FFF2-40B4-BE49-F238E27FC236}">
                <a16:creationId xmlns:a16="http://schemas.microsoft.com/office/drawing/2014/main" id="{A6445A2E-46CF-4851-9AA5-0C53D26E73C4}"/>
              </a:ext>
            </a:extLst>
          </p:cNvPr>
          <p:cNvSpPr>
            <a:spLocks xmlns:a="http://schemas.openxmlformats.org/drawingml/2006/main" noGrp="1"/>
          </p:cNvSpPr>
          <p:nvPr/>
        </p:nvSpPr>
        <p:spPr>
          <a:xfrm xmlns:a="http://schemas.openxmlformats.org/drawingml/2006/main">
            <a:off x="4311682" y="3822668"/>
            <a:ext cx="3381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Answer the question</a:t>
            </a:r>
          </a:p>
        </p:txBody>
      </p:sp>
      <p:sp>
        <p:nvSpPr>
          <p:cNvPr id="13" name="handoff-copy-1">
            <a:extLst xmlns:a="http://schemas.openxmlformats.org/drawingml/2006/main">
              <a:ext uri="{FF2B5EF4-FFF2-40B4-BE49-F238E27FC236}">
                <a16:creationId xmlns:a16="http://schemas.microsoft.com/office/drawing/2014/main" id="{0547C095-83B4-4ECC-B5F8-471A8D25191A}"/>
              </a:ext>
            </a:extLst>
          </p:cNvPr>
          <p:cNvSpPr>
            <a:spLocks xmlns:a="http://schemas.openxmlformats.org/drawingml/2006/main" noGrp="1"/>
          </p:cNvSpPr>
          <p:nvPr/>
        </p:nvSpPr>
        <p:spPr>
          <a:xfrm xmlns:a="http://schemas.openxmlformats.org/drawingml/2006/main">
            <a:off x="4311682" y="4410075"/>
            <a:ext cx="3381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An officer answers</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through the existing</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staff area.</a:t>
            </a:r>
          </a:p>
        </p:txBody>
      </p:sp>
      <p:sp>
        <p:nvSpPr>
          <p:cNvPr id="14" name="handoff-node-2">
            <a:extLst xmlns:a="http://schemas.openxmlformats.org/drawingml/2006/main">
              <a:ext uri="{FF2B5EF4-FFF2-40B4-BE49-F238E27FC236}">
                <a16:creationId xmlns:a16="http://schemas.microsoft.com/office/drawing/2014/main" id="{D312F25E-3F7E-4F52-9E44-1AC1B3788B75}"/>
              </a:ext>
            </a:extLst>
          </p:cNvPr>
          <p:cNvSpPr>
            <a:spLocks xmlns:a="http://schemas.openxmlformats.org/drawingml/2006/main" noGrp="1"/>
          </p:cNvSpPr>
          <p:nvPr/>
        </p:nvSpPr>
        <p:spPr>
          <a:xfrm xmlns:a="http://schemas.openxmlformats.org/drawingml/2006/main">
            <a:off x="8181975" y="3320415"/>
            <a:ext cx="107061" cy="107061"/>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5" name="handoff-role-2">
            <a:extLst xmlns:a="http://schemas.openxmlformats.org/drawingml/2006/main">
              <a:ext uri="{FF2B5EF4-FFF2-40B4-BE49-F238E27FC236}">
                <a16:creationId xmlns:a16="http://schemas.microsoft.com/office/drawing/2014/main" id="{62633D46-38D8-43CE-B7CD-AAC856B54FF9}"/>
              </a:ext>
            </a:extLst>
          </p:cNvPr>
          <p:cNvSpPr>
            <a:spLocks xmlns:a="http://schemas.openxmlformats.org/drawingml/2006/main" noGrp="1"/>
          </p:cNvSpPr>
          <p:nvPr/>
        </p:nvSpPr>
        <p:spPr>
          <a:xfrm xmlns:a="http://schemas.openxmlformats.org/drawingml/2006/main">
            <a:off x="8229600" y="2843308"/>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03 · Applicant</a:t>
            </a:r>
          </a:p>
        </p:txBody>
      </p:sp>
      <p:sp>
        <p:nvSpPr>
          <p:cNvPr id="16" name="handoff-heading-2">
            <a:extLst xmlns:a="http://schemas.openxmlformats.org/drawingml/2006/main">
              <a:ext uri="{FF2B5EF4-FFF2-40B4-BE49-F238E27FC236}">
                <a16:creationId xmlns:a16="http://schemas.microsoft.com/office/drawing/2014/main" id="{CFA6D432-19D0-4705-B984-BD3542091BED}"/>
              </a:ext>
            </a:extLst>
          </p:cNvPr>
          <p:cNvSpPr>
            <a:spLocks xmlns:a="http://schemas.openxmlformats.org/drawingml/2006/main" noGrp="1"/>
          </p:cNvSpPr>
          <p:nvPr/>
        </p:nvSpPr>
        <p:spPr>
          <a:xfrm xmlns:a="http://schemas.openxmlformats.org/drawingml/2006/main">
            <a:off x="8229600" y="3822668"/>
            <a:ext cx="3381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Get notified</a:t>
            </a:r>
          </a:p>
        </p:txBody>
      </p:sp>
      <p:sp>
        <p:nvSpPr>
          <p:cNvPr id="17" name="handoff-copy-2">
            <a:extLst xmlns:a="http://schemas.openxmlformats.org/drawingml/2006/main">
              <a:ext uri="{FF2B5EF4-FFF2-40B4-BE49-F238E27FC236}">
                <a16:creationId xmlns:a16="http://schemas.microsoft.com/office/drawing/2014/main" id="{A4FDA4DD-EC87-4BC3-B0D9-92FE398731AA}"/>
              </a:ext>
            </a:extLst>
          </p:cNvPr>
          <p:cNvSpPr>
            <a:spLocks xmlns:a="http://schemas.openxmlformats.org/drawingml/2006/main" noGrp="1"/>
          </p:cNvSpPr>
          <p:nvPr/>
        </p:nvSpPr>
        <p:spPr>
          <a:xfrm xmlns:a="http://schemas.openxmlformats.org/drawingml/2006/main">
            <a:off x="8229600" y="4410075"/>
            <a:ext cx="3381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Read the answer in</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your account; e-mail</a:t>
            </a:r>
          </a:p>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links back to it.</a:t>
            </a:r>
          </a:p>
        </p:txBody>
      </p:sp>
    </p:spTree>
    <p:extLst>
      <p:ext uri="{BB962C8B-B14F-4D97-AF65-F5344CB8AC3E}">
        <p14:creationId xmlns:p14="http://schemas.microsoft.com/office/powerpoint/2010/main" val="20417005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04E682A6-AB55-4C77-8D92-6A8BEF5769CA}"/>
              </a:ext>
            </a:extLst>
          </p:cNvPr>
          <p:cNvSpPr>
            <a:spLocks xmlns:a="http://schemas.openxmlformats.org/drawingml/2006/main" noGrp="1"/>
          </p:cNvSpPr>
          <p:nvPr/>
        </p:nvSpPr>
        <p:spPr>
          <a:xfrm xmlns:a="http://schemas.openxmlformats.org/drawingml/2006/main">
            <a:off x="393668" y="344043"/>
            <a:ext cx="11404568"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11111"/>
                </a:solidFill>
                <a:latin typeface="Helvetica Neue"/>
                <a:ea typeface="Helvetica Neue"/>
                <a:cs typeface="Helvetica Neue"/>
              </a:defRPr>
            </a:pPr>
            <a:r>
              <a:rPr sz="3600" b="0">
                <a:solidFill>
                  <a:srgbClr val="111111"/>
                </a:solidFill>
                <a:latin typeface="Helvetica Neue"/>
                <a:ea typeface="Helvetica Neue"/>
                <a:cs typeface="Helvetica Neue"/>
              </a:rPr>
              <a:t>All 64 programmes have a source audit</a:t>
            </a:r>
          </a:p>
        </p:txBody>
      </p:sp>
      <p:sp>
        <p:nvSpPr>
          <p:cNvPr id="2" name="deck-footer">
            <a:extLst xmlns:a="http://schemas.openxmlformats.org/drawingml/2006/main">
              <a:ext uri="{FF2B5EF4-FFF2-40B4-BE49-F238E27FC236}">
                <a16:creationId xmlns:a16="http://schemas.microsoft.com/office/drawing/2014/main" id="{F48B28AE-6541-408D-BAEE-44CE511E7A94}"/>
              </a:ext>
            </a:extLst>
          </p:cNvPr>
          <p:cNvSpPr>
            <a:spLocks xmlns:a="http://schemas.openxmlformats.org/drawingml/2006/main" noGrp="1"/>
          </p:cNvSpPr>
          <p:nvPr/>
        </p:nvSpPr>
        <p:spPr>
          <a:xfrm xmlns:a="http://schemas.openxmlformats.org/drawingml/2006/main">
            <a:off x="393668" y="63341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SDU Admissions Portal  /  Sprint 6</a:t>
            </a:r>
          </a:p>
        </p:txBody>
      </p:sp>
      <p:sp>
        <p:nvSpPr>
          <p:cNvPr id="3" name="page-number">
            <a:extLst xmlns:a="http://schemas.openxmlformats.org/drawingml/2006/main">
              <a:ext uri="{FF2B5EF4-FFF2-40B4-BE49-F238E27FC236}">
                <a16:creationId xmlns:a16="http://schemas.microsoft.com/office/drawing/2014/main" id="{DCE0EAA2-17E8-4647-B809-6FEFC8F71153}"/>
              </a:ext>
            </a:extLst>
          </p:cNvPr>
          <p:cNvSpPr>
            <a:spLocks xmlns:a="http://schemas.openxmlformats.org/drawingml/2006/main" noGrp="1"/>
          </p:cNvSpPr>
          <p:nvPr/>
        </p:nvSpPr>
        <p:spPr>
          <a:xfrm xmlns:a="http://schemas.openxmlformats.org/drawingml/2006/main">
            <a:off x="11279315" y="6334125"/>
            <a:ext cx="51892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08</a:t>
            </a:r>
          </a:p>
        </p:txBody>
      </p:sp>
      <p:sp>
        <p:nvSpPr>
          <p:cNvPr id="4" name="coverage-lead">
            <a:extLst xmlns:a="http://schemas.openxmlformats.org/drawingml/2006/main">
              <a:ext uri="{FF2B5EF4-FFF2-40B4-BE49-F238E27FC236}">
                <a16:creationId xmlns:a16="http://schemas.microsoft.com/office/drawing/2014/main" id="{2C353224-961F-4359-9A75-C1D68E42F1C0}"/>
              </a:ext>
            </a:extLst>
          </p:cNvPr>
          <p:cNvSpPr>
            <a:spLocks xmlns:a="http://schemas.openxmlformats.org/drawingml/2006/main" noGrp="1"/>
          </p:cNvSpPr>
          <p:nvPr/>
        </p:nvSpPr>
        <p:spPr>
          <a:xfrm xmlns:a="http://schemas.openxmlformats.org/drawingml/2006/main">
            <a:off x="393668" y="1628775"/>
            <a:ext cx="1140456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75B60"/>
                </a:solidFill>
                <a:latin typeface="Helvetica Neue"/>
                <a:ea typeface="Helvetica Neue"/>
                <a:cs typeface="Helvetica Neue"/>
              </a:defRPr>
            </a:pPr>
            <a:r>
              <a:rPr sz="2100" b="0">
                <a:solidFill>
                  <a:srgbClr val="575B60"/>
                </a:solidFill>
                <a:latin typeface="Helvetica Neue"/>
                <a:ea typeface="Helvetica Neue"/>
                <a:cs typeface="Helvetica Neue"/>
              </a:rPr>
              <a:t>Coverage makes missing or conflicting data visible.</a:t>
            </a:r>
          </a:p>
          <a:p xmlns:a="http://schemas.openxmlformats.org/drawingml/2006/main">
            <a:pPr algn="l">
              <a:defRPr sz="2100" b="0">
                <a:solidFill>
                  <a:srgbClr val="575B60"/>
                </a:solidFill>
                <a:latin typeface="Helvetica Neue"/>
                <a:ea typeface="Helvetica Neue"/>
                <a:cs typeface="Helvetica Neue"/>
              </a:defRPr>
            </a:pPr>
            <a:r>
              <a:rPr sz="2100" b="0">
                <a:solidFill>
                  <a:srgbClr val="575B60"/>
                </a:solidFill>
                <a:latin typeface="Helvetica Neue"/>
                <a:ea typeface="Helvetica Neue"/>
                <a:cs typeface="Helvetica Neue"/>
              </a:rPr>
              <a:t>Office confirmation is still needed before a route is declared complete.</a:t>
            </a:r>
          </a:p>
        </p:txBody>
      </p:sp>
      <p:sp>
        <p:nvSpPr>
          <p:cNvPr id="5" name="coverage-stat-0">
            <a:extLst xmlns:a="http://schemas.openxmlformats.org/drawingml/2006/main">
              <a:ext uri="{FF2B5EF4-FFF2-40B4-BE49-F238E27FC236}">
                <a16:creationId xmlns:a16="http://schemas.microsoft.com/office/drawing/2014/main" id="{296F0D84-0A14-4229-A535-B2D5252FBC40}"/>
              </a:ext>
            </a:extLst>
          </p:cNvPr>
          <p:cNvSpPr>
            <a:spLocks xmlns:a="http://schemas.openxmlformats.org/drawingml/2006/main" noGrp="1"/>
          </p:cNvSpPr>
          <p:nvPr/>
        </p:nvSpPr>
        <p:spPr>
          <a:xfrm xmlns:a="http://schemas.openxmlformats.org/drawingml/2006/main">
            <a:off x="393668" y="3143250"/>
            <a:ext cx="3568732"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200" b="0">
                <a:solidFill>
                  <a:srgbClr val="111111"/>
                </a:solidFill>
                <a:latin typeface="Helvetica Neue"/>
                <a:ea typeface="Helvetica Neue"/>
                <a:cs typeface="Helvetica Neue"/>
              </a:defRPr>
            </a:pPr>
            <a:r>
              <a:rPr sz="7200" b="0">
                <a:solidFill>
                  <a:srgbClr val="111111"/>
                </a:solidFill>
                <a:latin typeface="Helvetica Neue"/>
                <a:ea typeface="Helvetica Neue"/>
                <a:cs typeface="Helvetica Neue"/>
              </a:rPr>
              <a:t>64</a:t>
            </a:r>
          </a:p>
        </p:txBody>
      </p:sp>
      <p:sp>
        <p:nvSpPr>
          <p:cNvPr id="6" name="coverage-label-0">
            <a:extLst xmlns:a="http://schemas.openxmlformats.org/drawingml/2006/main">
              <a:ext uri="{FF2B5EF4-FFF2-40B4-BE49-F238E27FC236}">
                <a16:creationId xmlns:a16="http://schemas.microsoft.com/office/drawing/2014/main" id="{F561852E-9CA7-498F-8D7A-19F1630B99FB}"/>
              </a:ext>
            </a:extLst>
          </p:cNvPr>
          <p:cNvSpPr>
            <a:spLocks xmlns:a="http://schemas.openxmlformats.org/drawingml/2006/main" noGrp="1"/>
          </p:cNvSpPr>
          <p:nvPr/>
        </p:nvSpPr>
        <p:spPr>
          <a:xfrm xmlns:a="http://schemas.openxmlformats.org/drawingml/2006/main">
            <a:off x="393668" y="4457700"/>
            <a:ext cx="3568732"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Programme records</a:t>
            </a:r>
          </a:p>
        </p:txBody>
      </p:sp>
      <p:sp>
        <p:nvSpPr>
          <p:cNvPr id="7" name="coverage-body-0">
            <a:extLst xmlns:a="http://schemas.openxmlformats.org/drawingml/2006/main">
              <a:ext uri="{FF2B5EF4-FFF2-40B4-BE49-F238E27FC236}">
                <a16:creationId xmlns:a16="http://schemas.microsoft.com/office/drawing/2014/main" id="{8D86798C-BE57-4CBB-A556-D636E23EC039}"/>
              </a:ext>
            </a:extLst>
          </p:cNvPr>
          <p:cNvSpPr>
            <a:spLocks xmlns:a="http://schemas.openxmlformats.org/drawingml/2006/main" noGrp="1"/>
          </p:cNvSpPr>
          <p:nvPr/>
        </p:nvSpPr>
        <p:spPr>
          <a:xfrm xmlns:a="http://schemas.openxmlformats.org/drawingml/2006/main">
            <a:off x="393668" y="5019675"/>
            <a:ext cx="3568732"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Every catalogue programme</a:t>
            </a:r>
          </a:p>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has a documented source</a:t>
            </a:r>
          </a:p>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and a list of open gaps.</a:t>
            </a:r>
          </a:p>
        </p:txBody>
      </p:sp>
      <p:sp>
        <p:nvSpPr>
          <p:cNvPr id="8" name="coverage-stat-1">
            <a:extLst xmlns:a="http://schemas.openxmlformats.org/drawingml/2006/main">
              <a:ext uri="{FF2B5EF4-FFF2-40B4-BE49-F238E27FC236}">
                <a16:creationId xmlns:a16="http://schemas.microsoft.com/office/drawing/2014/main" id="{43C1CBAC-245B-4D29-BE27-5ADD8721AFC7}"/>
              </a:ext>
            </a:extLst>
          </p:cNvPr>
          <p:cNvSpPr>
            <a:spLocks xmlns:a="http://schemas.openxmlformats.org/drawingml/2006/main" noGrp="1"/>
          </p:cNvSpPr>
          <p:nvPr/>
        </p:nvSpPr>
        <p:spPr>
          <a:xfrm xmlns:a="http://schemas.openxmlformats.org/drawingml/2006/main">
            <a:off x="4311682" y="3143250"/>
            <a:ext cx="3568732"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200" b="0">
                <a:solidFill>
                  <a:srgbClr val="111111"/>
                </a:solidFill>
                <a:latin typeface="Helvetica Neue"/>
                <a:ea typeface="Helvetica Neue"/>
                <a:cs typeface="Helvetica Neue"/>
              </a:defRPr>
            </a:pPr>
            <a:r>
              <a:rPr sz="7200" b="0">
                <a:solidFill>
                  <a:srgbClr val="111111"/>
                </a:solidFill>
                <a:latin typeface="Helvetica Neue"/>
                <a:ea typeface="Helvetica Neue"/>
                <a:cs typeface="Helvetica Neue"/>
              </a:rPr>
              <a:t>32</a:t>
            </a:r>
          </a:p>
        </p:txBody>
      </p:sp>
      <p:sp>
        <p:nvSpPr>
          <p:cNvPr id="9" name="coverage-label-1">
            <a:extLst xmlns:a="http://schemas.openxmlformats.org/drawingml/2006/main">
              <a:ext uri="{FF2B5EF4-FFF2-40B4-BE49-F238E27FC236}">
                <a16:creationId xmlns:a16="http://schemas.microsoft.com/office/drawing/2014/main" id="{A06E1BDD-3F54-408D-A25E-9B1921FFA913}"/>
              </a:ext>
            </a:extLst>
          </p:cNvPr>
          <p:cNvSpPr>
            <a:spLocks xmlns:a="http://schemas.openxmlformats.org/drawingml/2006/main" noGrp="1"/>
          </p:cNvSpPr>
          <p:nvPr/>
        </p:nvSpPr>
        <p:spPr>
          <a:xfrm xmlns:a="http://schemas.openxmlformats.org/drawingml/2006/main">
            <a:off x="4311682" y="4457700"/>
            <a:ext cx="3568732"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Paid UNT thresholds</a:t>
            </a:r>
          </a:p>
        </p:txBody>
      </p:sp>
      <p:sp>
        <p:nvSpPr>
          <p:cNvPr id="10" name="coverage-body-1">
            <a:extLst xmlns:a="http://schemas.openxmlformats.org/drawingml/2006/main">
              <a:ext uri="{FF2B5EF4-FFF2-40B4-BE49-F238E27FC236}">
                <a16:creationId xmlns:a16="http://schemas.microsoft.com/office/drawing/2014/main" id="{48C5C396-D92E-45E5-A013-FACE45D1EE73}"/>
              </a:ext>
            </a:extLst>
          </p:cNvPr>
          <p:cNvSpPr>
            <a:spLocks xmlns:a="http://schemas.openxmlformats.org/drawingml/2006/main" noGrp="1"/>
          </p:cNvSpPr>
          <p:nvPr/>
        </p:nvSpPr>
        <p:spPr>
          <a:xfrm xmlns:a="http://schemas.openxmlformats.org/drawingml/2006/main">
            <a:off x="4311682" y="5019675"/>
            <a:ext cx="3568732"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Published bachelor thresholds</a:t>
            </a:r>
          </a:p>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are scoped to the correct</a:t>
            </a:r>
          </a:p>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applicant route.</a:t>
            </a:r>
          </a:p>
        </p:txBody>
      </p:sp>
      <p:sp>
        <p:nvSpPr>
          <p:cNvPr id="11" name="coverage-stat-2">
            <a:extLst xmlns:a="http://schemas.openxmlformats.org/drawingml/2006/main">
              <a:ext uri="{FF2B5EF4-FFF2-40B4-BE49-F238E27FC236}">
                <a16:creationId xmlns:a16="http://schemas.microsoft.com/office/drawing/2014/main" id="{39C12515-1B48-484C-BBF0-FA8C140E2864}"/>
              </a:ext>
            </a:extLst>
          </p:cNvPr>
          <p:cNvSpPr>
            <a:spLocks xmlns:a="http://schemas.openxmlformats.org/drawingml/2006/main" noGrp="1"/>
          </p:cNvSpPr>
          <p:nvPr/>
        </p:nvSpPr>
        <p:spPr>
          <a:xfrm xmlns:a="http://schemas.openxmlformats.org/drawingml/2006/main">
            <a:off x="8229600" y="3143250"/>
            <a:ext cx="3568732"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200" b="0">
                <a:solidFill>
                  <a:srgbClr val="111111"/>
                </a:solidFill>
                <a:latin typeface="Helvetica Neue"/>
                <a:ea typeface="Helvetica Neue"/>
                <a:cs typeface="Helvetica Neue"/>
              </a:defRPr>
            </a:pPr>
            <a:r>
              <a:rPr sz="7200" b="0">
                <a:solidFill>
                  <a:srgbClr val="111111"/>
                </a:solidFill>
                <a:latin typeface="Helvetica Neue"/>
                <a:ea typeface="Helvetica Neue"/>
                <a:cs typeface="Helvetica Neue"/>
              </a:rPr>
              <a:t>3</a:t>
            </a:r>
          </a:p>
        </p:txBody>
      </p:sp>
      <p:sp>
        <p:nvSpPr>
          <p:cNvPr id="12" name="coverage-label-2">
            <a:extLst xmlns:a="http://schemas.openxmlformats.org/drawingml/2006/main">
              <a:ext uri="{FF2B5EF4-FFF2-40B4-BE49-F238E27FC236}">
                <a16:creationId xmlns:a16="http://schemas.microsoft.com/office/drawing/2014/main" id="{4D4A8643-0BCD-4C85-B926-212503A4D367}"/>
              </a:ext>
            </a:extLst>
          </p:cNvPr>
          <p:cNvSpPr>
            <a:spLocks xmlns:a="http://schemas.openxmlformats.org/drawingml/2006/main" noGrp="1"/>
          </p:cNvSpPr>
          <p:nvPr/>
        </p:nvSpPr>
        <p:spPr>
          <a:xfrm xmlns:a="http://schemas.openxmlformats.org/drawingml/2006/main">
            <a:off x="8229600" y="4457700"/>
            <a:ext cx="3568732"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Portal languages</a:t>
            </a:r>
          </a:p>
        </p:txBody>
      </p:sp>
      <p:sp>
        <p:nvSpPr>
          <p:cNvPr id="13" name="coverage-body-2">
            <a:extLst xmlns:a="http://schemas.openxmlformats.org/drawingml/2006/main">
              <a:ext uri="{FF2B5EF4-FFF2-40B4-BE49-F238E27FC236}">
                <a16:creationId xmlns:a16="http://schemas.microsoft.com/office/drawing/2014/main" id="{A8DA9CB5-672B-40DB-BB77-8899434CE966}"/>
              </a:ext>
            </a:extLst>
          </p:cNvPr>
          <p:cNvSpPr>
            <a:spLocks xmlns:a="http://schemas.openxmlformats.org/drawingml/2006/main" noGrp="1"/>
          </p:cNvSpPr>
          <p:nvPr/>
        </p:nvSpPr>
        <p:spPr>
          <a:xfrm xmlns:a="http://schemas.openxmlformats.org/drawingml/2006/main">
            <a:off x="8229600" y="5019675"/>
            <a:ext cx="3568732"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English, Russian and Kazakh</a:t>
            </a:r>
          </a:p>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labels support the new</a:t>
            </a:r>
          </a:p>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public planning pages.</a:t>
            </a:r>
          </a:p>
        </p:txBody>
      </p:sp>
    </p:spTree>
    <p:extLst>
      <p:ext uri="{BB962C8B-B14F-4D97-AF65-F5344CB8AC3E}">
        <p14:creationId xmlns:p14="http://schemas.microsoft.com/office/powerpoint/2010/main" val="17384304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793D7ED-7190-44C2-B13A-7F730A10C64C}"/>
              </a:ext>
            </a:extLst>
          </p:cNvPr>
          <p:cNvSpPr>
            <a:spLocks xmlns:a="http://schemas.openxmlformats.org/drawingml/2006/main" noGrp="1"/>
          </p:cNvSpPr>
          <p:nvPr/>
        </p:nvSpPr>
        <p:spPr>
          <a:xfrm xmlns:a="http://schemas.openxmlformats.org/drawingml/2006/main">
            <a:off x="393668" y="344043"/>
            <a:ext cx="11404568"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11111"/>
                </a:solidFill>
                <a:latin typeface="Helvetica Neue"/>
                <a:ea typeface="Helvetica Neue"/>
                <a:cs typeface="Helvetica Neue"/>
              </a:defRPr>
            </a:pPr>
            <a:r>
              <a:rPr sz="3600" b="0">
                <a:solidFill>
                  <a:srgbClr val="111111"/>
                </a:solidFill>
                <a:latin typeface="Helvetica Neue"/>
                <a:ea typeface="Helvetica Neue"/>
                <a:cs typeface="Helvetica Neue"/>
              </a:rPr>
              <a:t>Staff can keep the guidance current</a:t>
            </a:r>
          </a:p>
        </p:txBody>
      </p:sp>
      <p:sp>
        <p:nvSpPr>
          <p:cNvPr id="2" name="deck-footer">
            <a:extLst xmlns:a="http://schemas.openxmlformats.org/drawingml/2006/main">
              <a:ext uri="{FF2B5EF4-FFF2-40B4-BE49-F238E27FC236}">
                <a16:creationId xmlns:a16="http://schemas.microsoft.com/office/drawing/2014/main" id="{7407E6A9-B754-4768-A90F-9DFD126F43A4}"/>
              </a:ext>
            </a:extLst>
          </p:cNvPr>
          <p:cNvSpPr>
            <a:spLocks xmlns:a="http://schemas.openxmlformats.org/drawingml/2006/main" noGrp="1"/>
          </p:cNvSpPr>
          <p:nvPr/>
        </p:nvSpPr>
        <p:spPr>
          <a:xfrm xmlns:a="http://schemas.openxmlformats.org/drawingml/2006/main">
            <a:off x="393668" y="63341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SDU Admissions Portal  /  Sprint 6</a:t>
            </a:r>
          </a:p>
        </p:txBody>
      </p:sp>
      <p:sp>
        <p:nvSpPr>
          <p:cNvPr id="3" name="page-number">
            <a:extLst xmlns:a="http://schemas.openxmlformats.org/drawingml/2006/main">
              <a:ext uri="{FF2B5EF4-FFF2-40B4-BE49-F238E27FC236}">
                <a16:creationId xmlns:a16="http://schemas.microsoft.com/office/drawing/2014/main" id="{2BCAC815-8A62-409F-8055-9F0BC4071B38}"/>
              </a:ext>
            </a:extLst>
          </p:cNvPr>
          <p:cNvSpPr>
            <a:spLocks xmlns:a="http://schemas.openxmlformats.org/drawingml/2006/main" noGrp="1"/>
          </p:cNvSpPr>
          <p:nvPr/>
        </p:nvSpPr>
        <p:spPr>
          <a:xfrm xmlns:a="http://schemas.openxmlformats.org/drawingml/2006/main">
            <a:off x="11279315" y="6334125"/>
            <a:ext cx="51892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09</a:t>
            </a:r>
          </a:p>
        </p:txBody>
      </p:sp>
      <p:sp>
        <p:nvSpPr>
          <p:cNvPr id="4" name="staff-controls-heading">
            <a:extLst xmlns:a="http://schemas.openxmlformats.org/drawingml/2006/main">
              <a:ext uri="{FF2B5EF4-FFF2-40B4-BE49-F238E27FC236}">
                <a16:creationId xmlns:a16="http://schemas.microsoft.com/office/drawing/2014/main" id="{05F2AC8D-9E3D-43C9-8E08-07BEA50D715E}"/>
              </a:ext>
            </a:extLst>
          </p:cNvPr>
          <p:cNvSpPr>
            <a:spLocks xmlns:a="http://schemas.openxmlformats.org/drawingml/2006/main" noGrp="1"/>
          </p:cNvSpPr>
          <p:nvPr/>
        </p:nvSpPr>
        <p:spPr>
          <a:xfrm xmlns:a="http://schemas.openxmlformats.org/drawingml/2006/main">
            <a:off x="393668" y="2031968"/>
            <a:ext cx="5537168"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Admissions office</a:t>
            </a:r>
          </a:p>
        </p:txBody>
      </p:sp>
      <p:sp>
        <p:nvSpPr>
          <p:cNvPr id="5" name="staff-controls-body">
            <a:extLst xmlns:a="http://schemas.openxmlformats.org/drawingml/2006/main">
              <a:ext uri="{FF2B5EF4-FFF2-40B4-BE49-F238E27FC236}">
                <a16:creationId xmlns:a16="http://schemas.microsoft.com/office/drawing/2014/main" id="{0DEE5BC7-91A2-4959-98D2-7DB964E7C1EF}"/>
              </a:ext>
            </a:extLst>
          </p:cNvPr>
          <p:cNvSpPr>
            <a:spLocks xmlns:a="http://schemas.openxmlformats.org/drawingml/2006/main" noGrp="1"/>
          </p:cNvSpPr>
          <p:nvPr/>
        </p:nvSpPr>
        <p:spPr>
          <a:xfrm xmlns:a="http://schemas.openxmlformats.org/drawingml/2006/main">
            <a:off x="393668" y="2536793"/>
            <a:ext cx="5537168"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75B60"/>
                </a:solidFill>
                <a:latin typeface="Helvetica Neue"/>
                <a:ea typeface="Helvetica Neue"/>
                <a:cs typeface="Helvetica Neue"/>
              </a:defRPr>
            </a:pPr>
            <a:r>
              <a:rPr sz="1950" b="0">
                <a:solidFill>
                  <a:srgbClr val="575B60"/>
                </a:solidFill>
                <a:latin typeface="Helvetica Neue"/>
                <a:ea typeface="Helvetica Neue"/>
                <a:cs typeface="Helvetica Neue"/>
              </a:rPr>
              <a:t>Edit requirements and alternatives.</a:t>
            </a:r>
          </a:p>
          <a:p xmlns:a="http://schemas.openxmlformats.org/drawingml/2006/main">
            <a:pPr algn="l">
              <a:defRPr sz="1950" b="0">
                <a:solidFill>
                  <a:srgbClr val="575B60"/>
                </a:solidFill>
                <a:latin typeface="Helvetica Neue"/>
                <a:ea typeface="Helvetica Neue"/>
                <a:cs typeface="Helvetica Neue"/>
              </a:defRPr>
            </a:pPr>
            <a:r>
              <a:rPr sz="1950" b="0">
                <a:solidFill>
                  <a:srgbClr val="575B60"/>
                </a:solidFill>
                <a:latin typeface="Helvetica Neue"/>
                <a:ea typeface="Helvetica Neue"/>
                <a:cs typeface="Helvetica Neue"/>
              </a:rPr>
              <a:t>Maintain fee and source evidence.</a:t>
            </a:r>
          </a:p>
          <a:p xmlns:a="http://schemas.openxmlformats.org/drawingml/2006/main">
            <a:pPr algn="l">
              <a:defRPr sz="1950" b="0">
                <a:solidFill>
                  <a:srgbClr val="575B60"/>
                </a:solidFill>
                <a:latin typeface="Helvetica Neue"/>
                <a:ea typeface="Helvetica Neue"/>
                <a:cs typeface="Helvetica Neue"/>
              </a:defRPr>
            </a:pPr>
            <a:r>
              <a:rPr sz="1950" b="0">
                <a:solidFill>
                  <a:srgbClr val="575B60"/>
                </a:solidFill>
                <a:latin typeface="Helvetica Neue"/>
                <a:ea typeface="Helvetica Neue"/>
                <a:cs typeface="Helvetica Neue"/>
              </a:rPr>
              <a:t>Confirm complete admission routes.</a:t>
            </a:r>
          </a:p>
        </p:txBody>
      </p:sp>
      <p:sp>
        <p:nvSpPr>
          <p:cNvPr id="6" name="system-controls-heading">
            <a:extLst xmlns:a="http://schemas.openxmlformats.org/drawingml/2006/main">
              <a:ext uri="{FF2B5EF4-FFF2-40B4-BE49-F238E27FC236}">
                <a16:creationId xmlns:a16="http://schemas.microsoft.com/office/drawing/2014/main" id="{B4AFA184-42AF-4950-9C9A-891CDAA661FD}"/>
              </a:ext>
            </a:extLst>
          </p:cNvPr>
          <p:cNvSpPr>
            <a:spLocks xmlns:a="http://schemas.openxmlformats.org/drawingml/2006/main" noGrp="1"/>
          </p:cNvSpPr>
          <p:nvPr/>
        </p:nvSpPr>
        <p:spPr>
          <a:xfrm xmlns:a="http://schemas.openxmlformats.org/drawingml/2006/main">
            <a:off x="6256592" y="2031968"/>
            <a:ext cx="5537168"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Operational foundation</a:t>
            </a:r>
          </a:p>
        </p:txBody>
      </p:sp>
      <p:sp>
        <p:nvSpPr>
          <p:cNvPr id="7" name="system-controls-body">
            <a:extLst xmlns:a="http://schemas.openxmlformats.org/drawingml/2006/main">
              <a:ext uri="{FF2B5EF4-FFF2-40B4-BE49-F238E27FC236}">
                <a16:creationId xmlns:a16="http://schemas.microsoft.com/office/drawing/2014/main" id="{C83794FA-D827-4898-80CD-100B6AF43448}"/>
              </a:ext>
            </a:extLst>
          </p:cNvPr>
          <p:cNvSpPr>
            <a:spLocks xmlns:a="http://schemas.openxmlformats.org/drawingml/2006/main" noGrp="1"/>
          </p:cNvSpPr>
          <p:nvPr/>
        </p:nvSpPr>
        <p:spPr>
          <a:xfrm xmlns:a="http://schemas.openxmlformats.org/drawingml/2006/main">
            <a:off x="6256592" y="2536793"/>
            <a:ext cx="5537168"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75B60"/>
                </a:solidFill>
                <a:latin typeface="Helvetica Neue"/>
                <a:ea typeface="Helvetica Neue"/>
                <a:cs typeface="Helvetica Neue"/>
              </a:defRPr>
            </a:pPr>
            <a:r>
              <a:rPr sz="1950" b="0">
                <a:solidFill>
                  <a:srgbClr val="575B60"/>
                </a:solidFill>
                <a:latin typeface="Helvetica Neue"/>
                <a:ea typeface="Helvetica Neue"/>
                <a:cs typeface="Helvetica Neue"/>
              </a:rPr>
              <a:t>Startup preserves staff changes.</a:t>
            </a:r>
          </a:p>
          <a:p xmlns:a="http://schemas.openxmlformats.org/drawingml/2006/main">
            <a:pPr algn="l">
              <a:defRPr sz="1950" b="0">
                <a:solidFill>
                  <a:srgbClr val="575B60"/>
                </a:solidFill>
                <a:latin typeface="Helvetica Neue"/>
                <a:ea typeface="Helvetica Neue"/>
                <a:cs typeface="Helvetica Neue"/>
              </a:defRPr>
            </a:pPr>
            <a:r>
              <a:rPr sz="1950" b="0">
                <a:solidFill>
                  <a:srgbClr val="575B60"/>
                </a:solidFill>
                <a:latin typeface="Helvetica Neue"/>
                <a:ea typeface="Helvetica Neue"/>
                <a:cs typeface="Helvetica Neue"/>
              </a:rPr>
              <a:t>Assessments do not store scores.</a:t>
            </a:r>
          </a:p>
          <a:p xmlns:a="http://schemas.openxmlformats.org/drawingml/2006/main">
            <a:pPr algn="l">
              <a:defRPr sz="1950" b="0">
                <a:solidFill>
                  <a:srgbClr val="575B60"/>
                </a:solidFill>
                <a:latin typeface="Helvetica Neue"/>
                <a:ea typeface="Helvetica Neue"/>
                <a:cs typeface="Helvetica Neue"/>
              </a:defRPr>
            </a:pPr>
            <a:r>
              <a:rPr sz="1950" b="0">
                <a:solidFill>
                  <a:srgbClr val="575B60"/>
                </a:solidFill>
                <a:latin typeface="Helvetica Neue"/>
                <a:ea typeface="Helvetica Neue"/>
                <a:cs typeface="Helvetica Neue"/>
              </a:rPr>
              <a:t>New APIs and migration 0019 are documented.</a:t>
            </a:r>
          </a:p>
        </p:txBody>
      </p:sp>
      <p:sp>
        <p:nvSpPr>
          <p:cNvPr id="8" name="staff-purpose">
            <a:extLst xmlns:a="http://schemas.openxmlformats.org/drawingml/2006/main">
              <a:ext uri="{FF2B5EF4-FFF2-40B4-BE49-F238E27FC236}">
                <a16:creationId xmlns:a16="http://schemas.microsoft.com/office/drawing/2014/main" id="{5951AFBE-9921-466B-BC76-5FDE17EC14C3}"/>
              </a:ext>
            </a:extLst>
          </p:cNvPr>
          <p:cNvSpPr>
            <a:spLocks xmlns:a="http://schemas.openxmlformats.org/drawingml/2006/main" noGrp="1"/>
          </p:cNvSpPr>
          <p:nvPr/>
        </p:nvSpPr>
        <p:spPr>
          <a:xfrm xmlns:a="http://schemas.openxmlformats.org/drawingml/2006/main">
            <a:off x="393668" y="5010150"/>
            <a:ext cx="11404568"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111"/>
                </a:solidFill>
                <a:latin typeface="Helvetica Neue"/>
                <a:ea typeface="Helvetica Neue"/>
                <a:cs typeface="Helvetica Neue"/>
              </a:defRPr>
            </a:pPr>
            <a:r>
              <a:rPr sz="2400" b="0">
                <a:solidFill>
                  <a:srgbClr val="111111"/>
                </a:solidFill>
                <a:latin typeface="Helvetica Neue"/>
                <a:ea typeface="Helvetica Neue"/>
                <a:cs typeface="Helvetica Neue"/>
              </a:rPr>
              <a:t>Guidance lives in the database and can be maintained without a new release.</a:t>
            </a:r>
          </a:p>
        </p:txBody>
      </p:sp>
    </p:spTree>
    <p:extLst>
      <p:ext uri="{BB962C8B-B14F-4D97-AF65-F5344CB8AC3E}">
        <p14:creationId xmlns:p14="http://schemas.microsoft.com/office/powerpoint/2010/main" val="2757430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6407A434-B1BD-4EAC-9DFA-0104E7C18E2F}"/>
              </a:ext>
            </a:extLst>
          </p:cNvPr>
          <p:cNvSpPr>
            <a:spLocks xmlns:a="http://schemas.openxmlformats.org/drawingml/2006/main" noGrp="1"/>
          </p:cNvSpPr>
          <p:nvPr/>
        </p:nvSpPr>
        <p:spPr>
          <a:xfrm xmlns:a="http://schemas.openxmlformats.org/drawingml/2006/main">
            <a:off x="393668" y="344043"/>
            <a:ext cx="11404568"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11111"/>
                </a:solidFill>
                <a:latin typeface="Helvetica Neue"/>
                <a:ea typeface="Helvetica Neue"/>
                <a:cs typeface="Helvetica Neue"/>
              </a:defRPr>
            </a:pPr>
            <a:r>
              <a:rPr sz="3600" b="0">
                <a:solidFill>
                  <a:srgbClr val="111111"/>
                </a:solidFill>
                <a:latin typeface="Helvetica Neue"/>
                <a:ea typeface="Helvetica Neue"/>
                <a:cs typeface="Helvetica Neue"/>
              </a:rPr>
              <a:t>Local checks passed</a:t>
            </a:r>
          </a:p>
        </p:txBody>
      </p:sp>
      <p:sp>
        <p:nvSpPr>
          <p:cNvPr id="2" name="deck-footer">
            <a:extLst xmlns:a="http://schemas.openxmlformats.org/drawingml/2006/main">
              <a:ext uri="{FF2B5EF4-FFF2-40B4-BE49-F238E27FC236}">
                <a16:creationId xmlns:a16="http://schemas.microsoft.com/office/drawing/2014/main" id="{F427F432-BCE1-4843-92E1-B848922DC390}"/>
              </a:ext>
            </a:extLst>
          </p:cNvPr>
          <p:cNvSpPr>
            <a:spLocks xmlns:a="http://schemas.openxmlformats.org/drawingml/2006/main" noGrp="1"/>
          </p:cNvSpPr>
          <p:nvPr/>
        </p:nvSpPr>
        <p:spPr>
          <a:xfrm xmlns:a="http://schemas.openxmlformats.org/drawingml/2006/main">
            <a:off x="393668" y="63341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SDU Admissions Portal  /  Sprint 6</a:t>
            </a:r>
          </a:p>
        </p:txBody>
      </p:sp>
      <p:sp>
        <p:nvSpPr>
          <p:cNvPr id="3" name="page-number">
            <a:extLst xmlns:a="http://schemas.openxmlformats.org/drawingml/2006/main">
              <a:ext uri="{FF2B5EF4-FFF2-40B4-BE49-F238E27FC236}">
                <a16:creationId xmlns:a16="http://schemas.microsoft.com/office/drawing/2014/main" id="{75DA2A7D-A4D1-46A1-867C-BD3CE703F461}"/>
              </a:ext>
            </a:extLst>
          </p:cNvPr>
          <p:cNvSpPr>
            <a:spLocks xmlns:a="http://schemas.openxmlformats.org/drawingml/2006/main" noGrp="1"/>
          </p:cNvSpPr>
          <p:nvPr/>
        </p:nvSpPr>
        <p:spPr>
          <a:xfrm xmlns:a="http://schemas.openxmlformats.org/drawingml/2006/main">
            <a:off x="11279315" y="6334125"/>
            <a:ext cx="51892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10</a:t>
            </a:r>
          </a:p>
        </p:txBody>
      </p:sp>
      <p:sp>
        <p:nvSpPr>
          <p:cNvPr id="4" name="qa-lead">
            <a:extLst xmlns:a="http://schemas.openxmlformats.org/drawingml/2006/main">
              <a:ext uri="{FF2B5EF4-FFF2-40B4-BE49-F238E27FC236}">
                <a16:creationId xmlns:a16="http://schemas.microsoft.com/office/drawing/2014/main" id="{3CB88FD6-86EC-4D3D-B064-F623A963F8B8}"/>
              </a:ext>
            </a:extLst>
          </p:cNvPr>
          <p:cNvSpPr>
            <a:spLocks xmlns:a="http://schemas.openxmlformats.org/drawingml/2006/main" noGrp="1"/>
          </p:cNvSpPr>
          <p:nvPr/>
        </p:nvSpPr>
        <p:spPr>
          <a:xfrm xmlns:a="http://schemas.openxmlformats.org/drawingml/2006/main">
            <a:off x="393668" y="1504950"/>
            <a:ext cx="11404568"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75B60"/>
                </a:solidFill>
                <a:latin typeface="Helvetica Neue"/>
                <a:ea typeface="Helvetica Neue"/>
                <a:cs typeface="Helvetica Neue"/>
              </a:defRPr>
            </a:pPr>
            <a:r>
              <a:rPr sz="2100" b="0">
                <a:solidFill>
                  <a:srgbClr val="575B60"/>
                </a:solidFill>
                <a:latin typeface="Helvetica Neue"/>
                <a:ea typeface="Helvetica Neue"/>
                <a:cs typeface="Helvetica Neue"/>
              </a:rPr>
              <a:t>The final local verification covers the new features and existing portal flows.</a:t>
            </a:r>
          </a:p>
        </p:txBody>
      </p:sp>
      <p:sp>
        <p:nvSpPr>
          <p:cNvPr id="5" name="qa-stat-0">
            <a:extLst xmlns:a="http://schemas.openxmlformats.org/drawingml/2006/main">
              <a:ext uri="{FF2B5EF4-FFF2-40B4-BE49-F238E27FC236}">
                <a16:creationId xmlns:a16="http://schemas.microsoft.com/office/drawing/2014/main" id="{E5EB8B08-5392-4111-87C4-736BC2F31C4C}"/>
              </a:ext>
            </a:extLst>
          </p:cNvPr>
          <p:cNvSpPr>
            <a:spLocks xmlns:a="http://schemas.openxmlformats.org/drawingml/2006/main" noGrp="1"/>
          </p:cNvSpPr>
          <p:nvPr/>
        </p:nvSpPr>
        <p:spPr>
          <a:xfrm xmlns:a="http://schemas.openxmlformats.org/drawingml/2006/main">
            <a:off x="393668" y="2876550"/>
            <a:ext cx="3568732"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200" b="0">
                <a:solidFill>
                  <a:srgbClr val="111111"/>
                </a:solidFill>
                <a:latin typeface="Helvetica Neue"/>
                <a:ea typeface="Helvetica Neue"/>
                <a:cs typeface="Helvetica Neue"/>
              </a:defRPr>
            </a:pPr>
            <a:r>
              <a:rPr sz="7200" b="0">
                <a:solidFill>
                  <a:srgbClr val="111111"/>
                </a:solidFill>
                <a:latin typeface="Helvetica Neue"/>
                <a:ea typeface="Helvetica Neue"/>
                <a:cs typeface="Helvetica Neue"/>
              </a:rPr>
              <a:t>632</a:t>
            </a:r>
          </a:p>
        </p:txBody>
      </p:sp>
      <p:sp>
        <p:nvSpPr>
          <p:cNvPr id="6" name="qa-label-0">
            <a:extLst xmlns:a="http://schemas.openxmlformats.org/drawingml/2006/main">
              <a:ext uri="{FF2B5EF4-FFF2-40B4-BE49-F238E27FC236}">
                <a16:creationId xmlns:a16="http://schemas.microsoft.com/office/drawing/2014/main" id="{E9E94149-B787-445E-B6FA-5F95571E64F7}"/>
              </a:ext>
            </a:extLst>
          </p:cNvPr>
          <p:cNvSpPr>
            <a:spLocks xmlns:a="http://schemas.openxmlformats.org/drawingml/2006/main" noGrp="1"/>
          </p:cNvSpPr>
          <p:nvPr/>
        </p:nvSpPr>
        <p:spPr>
          <a:xfrm xmlns:a="http://schemas.openxmlformats.org/drawingml/2006/main">
            <a:off x="393668" y="4267200"/>
            <a:ext cx="3568732"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Backend tests passed</a:t>
            </a:r>
          </a:p>
        </p:txBody>
      </p:sp>
      <p:sp>
        <p:nvSpPr>
          <p:cNvPr id="7" name="qa-stat-1">
            <a:extLst xmlns:a="http://schemas.openxmlformats.org/drawingml/2006/main">
              <a:ext uri="{FF2B5EF4-FFF2-40B4-BE49-F238E27FC236}">
                <a16:creationId xmlns:a16="http://schemas.microsoft.com/office/drawing/2014/main" id="{D1F381C4-BB7D-4CF7-96A7-A63D9E7F8B0B}"/>
              </a:ext>
            </a:extLst>
          </p:cNvPr>
          <p:cNvSpPr>
            <a:spLocks xmlns:a="http://schemas.openxmlformats.org/drawingml/2006/main" noGrp="1"/>
          </p:cNvSpPr>
          <p:nvPr/>
        </p:nvSpPr>
        <p:spPr>
          <a:xfrm xmlns:a="http://schemas.openxmlformats.org/drawingml/2006/main">
            <a:off x="4311682" y="2876550"/>
            <a:ext cx="3568732"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200" b="0">
                <a:solidFill>
                  <a:srgbClr val="111111"/>
                </a:solidFill>
                <a:latin typeface="Helvetica Neue"/>
                <a:ea typeface="Helvetica Neue"/>
                <a:cs typeface="Helvetica Neue"/>
              </a:defRPr>
            </a:pPr>
            <a:r>
              <a:rPr sz="7200" b="0">
                <a:solidFill>
                  <a:srgbClr val="111111"/>
                </a:solidFill>
                <a:latin typeface="Helvetica Neue"/>
                <a:ea typeface="Helvetica Neue"/>
                <a:cs typeface="Helvetica Neue"/>
              </a:rPr>
              <a:t>539</a:t>
            </a:r>
          </a:p>
        </p:txBody>
      </p:sp>
      <p:sp>
        <p:nvSpPr>
          <p:cNvPr id="8" name="qa-label-1">
            <a:extLst xmlns:a="http://schemas.openxmlformats.org/drawingml/2006/main">
              <a:ext uri="{FF2B5EF4-FFF2-40B4-BE49-F238E27FC236}">
                <a16:creationId xmlns:a16="http://schemas.microsoft.com/office/drawing/2014/main" id="{44CEBEB8-C91F-4227-88FA-EC9EFFD9BE0D}"/>
              </a:ext>
            </a:extLst>
          </p:cNvPr>
          <p:cNvSpPr>
            <a:spLocks xmlns:a="http://schemas.openxmlformats.org/drawingml/2006/main" noGrp="1"/>
          </p:cNvSpPr>
          <p:nvPr/>
        </p:nvSpPr>
        <p:spPr>
          <a:xfrm xmlns:a="http://schemas.openxmlformats.org/drawingml/2006/main">
            <a:off x="4311682" y="4267200"/>
            <a:ext cx="3568732"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Browser checks passed</a:t>
            </a:r>
          </a:p>
        </p:txBody>
      </p:sp>
      <p:sp>
        <p:nvSpPr>
          <p:cNvPr id="9" name="qa-stat-2">
            <a:extLst xmlns:a="http://schemas.openxmlformats.org/drawingml/2006/main">
              <a:ext uri="{FF2B5EF4-FFF2-40B4-BE49-F238E27FC236}">
                <a16:creationId xmlns:a16="http://schemas.microsoft.com/office/drawing/2014/main" id="{0A7575F2-24D3-4D94-BF79-37B9B739BE0F}"/>
              </a:ext>
            </a:extLst>
          </p:cNvPr>
          <p:cNvSpPr>
            <a:spLocks xmlns:a="http://schemas.openxmlformats.org/drawingml/2006/main" noGrp="1"/>
          </p:cNvSpPr>
          <p:nvPr/>
        </p:nvSpPr>
        <p:spPr>
          <a:xfrm xmlns:a="http://schemas.openxmlformats.org/drawingml/2006/main">
            <a:off x="8229600" y="2876550"/>
            <a:ext cx="3568732"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0">
                <a:solidFill>
                  <a:srgbClr val="111111"/>
                </a:solidFill>
                <a:latin typeface="Helvetica Neue"/>
                <a:ea typeface="Helvetica Neue"/>
                <a:cs typeface="Helvetica Neue"/>
              </a:defRPr>
            </a:pPr>
            <a:r>
              <a:rPr sz="5400" b="0">
                <a:solidFill>
                  <a:srgbClr val="111111"/>
                </a:solidFill>
                <a:latin typeface="Helvetica Neue"/>
                <a:ea typeface="Helvetica Neue"/>
                <a:cs typeface="Helvetica Neue"/>
              </a:rPr>
              <a:t>192/192</a:t>
            </a:r>
          </a:p>
        </p:txBody>
      </p:sp>
      <p:sp>
        <p:nvSpPr>
          <p:cNvPr id="10" name="qa-label-2">
            <a:extLst xmlns:a="http://schemas.openxmlformats.org/drawingml/2006/main">
              <a:ext uri="{FF2B5EF4-FFF2-40B4-BE49-F238E27FC236}">
                <a16:creationId xmlns:a16="http://schemas.microsoft.com/office/drawing/2014/main" id="{3CF67AC1-20D4-47E2-801A-649E2D2664CF}"/>
              </a:ext>
            </a:extLst>
          </p:cNvPr>
          <p:cNvSpPr>
            <a:spLocks xmlns:a="http://schemas.openxmlformats.org/drawingml/2006/main" noGrp="1"/>
          </p:cNvSpPr>
          <p:nvPr/>
        </p:nvSpPr>
        <p:spPr>
          <a:xfrm xmlns:a="http://schemas.openxmlformats.org/drawingml/2006/main">
            <a:off x="8229600" y="4267200"/>
            <a:ext cx="3568732"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Catalogue answers matched</a:t>
            </a:r>
          </a:p>
        </p:txBody>
      </p:sp>
      <p:sp>
        <p:nvSpPr>
          <p:cNvPr id="11" name="qa-context">
            <a:extLst xmlns:a="http://schemas.openxmlformats.org/drawingml/2006/main">
              <a:ext uri="{FF2B5EF4-FFF2-40B4-BE49-F238E27FC236}">
                <a16:creationId xmlns:a16="http://schemas.microsoft.com/office/drawing/2014/main" id="{40994C01-1D60-4F61-9950-2C9CCB9E97CE}"/>
              </a:ext>
            </a:extLst>
          </p:cNvPr>
          <p:cNvSpPr>
            <a:spLocks xmlns:a="http://schemas.openxmlformats.org/drawingml/2006/main" noGrp="1"/>
          </p:cNvSpPr>
          <p:nvPr/>
        </p:nvSpPr>
        <p:spPr>
          <a:xfrm xmlns:a="http://schemas.openxmlformats.org/drawingml/2006/main">
            <a:off x="393668" y="5238750"/>
            <a:ext cx="1140456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Chromium + Firefox · 360 / 768 / 1280 px · migration rollback and build passed</a:t>
            </a:r>
          </a:p>
        </p:txBody>
      </p:sp>
      <p:sp>
        <p:nvSpPr>
          <p:cNvPr id="12" name="qa-limitation">
            <a:extLst xmlns:a="http://schemas.openxmlformats.org/drawingml/2006/main">
              <a:ext uri="{FF2B5EF4-FFF2-40B4-BE49-F238E27FC236}">
                <a16:creationId xmlns:a16="http://schemas.microsoft.com/office/drawing/2014/main" id="{AFF673F6-68D8-4BC8-821F-CB86537A2BB1}"/>
              </a:ext>
            </a:extLst>
          </p:cNvPr>
          <p:cNvSpPr>
            <a:spLocks xmlns:a="http://schemas.openxmlformats.org/drawingml/2006/main" noGrp="1"/>
          </p:cNvSpPr>
          <p:nvPr/>
        </p:nvSpPr>
        <p:spPr>
          <a:xfrm xmlns:a="http://schemas.openxmlformats.org/drawingml/2006/main">
            <a:off x="393668" y="5819775"/>
            <a:ext cx="1140456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75B60"/>
                </a:solidFill>
                <a:latin typeface="Helvetica Neue"/>
                <a:ea typeface="Helvetica Neue"/>
                <a:cs typeface="Helvetica Neue"/>
              </a:defRPr>
            </a:pPr>
            <a:r>
              <a:rPr sz="1800" b="0">
                <a:solidFill>
                  <a:srgbClr val="575B60"/>
                </a:solidFill>
                <a:latin typeface="Helvetica Neue"/>
                <a:ea typeface="Helvetica Neue"/>
                <a:cs typeface="Helvetica Neue"/>
              </a:rPr>
              <a:t>Assistant baseline: 63/70; seven existing evaluation misses remain.</a:t>
            </a:r>
          </a:p>
        </p:txBody>
      </p:sp>
    </p:spTree>
    <p:extLst>
      <p:ext uri="{BB962C8B-B14F-4D97-AF65-F5344CB8AC3E}">
        <p14:creationId xmlns:p14="http://schemas.microsoft.com/office/powerpoint/2010/main" val="11893571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ck-footer">
            <a:extLst xmlns:a="http://schemas.openxmlformats.org/drawingml/2006/main">
              <a:ext uri="{FF2B5EF4-FFF2-40B4-BE49-F238E27FC236}">
                <a16:creationId xmlns:a16="http://schemas.microsoft.com/office/drawing/2014/main" id="{D836725D-B2BB-41A9-AB5B-48ED93EC6512}"/>
              </a:ext>
            </a:extLst>
          </p:cNvPr>
          <p:cNvSpPr>
            <a:spLocks xmlns:a="http://schemas.openxmlformats.org/drawingml/2006/main" noGrp="1"/>
          </p:cNvSpPr>
          <p:nvPr/>
        </p:nvSpPr>
        <p:spPr>
          <a:xfrm xmlns:a="http://schemas.openxmlformats.org/drawingml/2006/main">
            <a:off x="393668" y="63341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SDU Admissions Portal  /  Sprint 6</a:t>
            </a:r>
          </a:p>
        </p:txBody>
      </p:sp>
      <p:sp>
        <p:nvSpPr>
          <p:cNvPr id="2" name="page-number">
            <a:extLst xmlns:a="http://schemas.openxmlformats.org/drawingml/2006/main">
              <a:ext uri="{FF2B5EF4-FFF2-40B4-BE49-F238E27FC236}">
                <a16:creationId xmlns:a16="http://schemas.microsoft.com/office/drawing/2014/main" id="{A68BBA0D-32C1-48E4-AA73-8B95F7F9D0FF}"/>
              </a:ext>
            </a:extLst>
          </p:cNvPr>
          <p:cNvSpPr>
            <a:spLocks xmlns:a="http://schemas.openxmlformats.org/drawingml/2006/main" noGrp="1"/>
          </p:cNvSpPr>
          <p:nvPr/>
        </p:nvSpPr>
        <p:spPr>
          <a:xfrm xmlns:a="http://schemas.openxmlformats.org/drawingml/2006/main">
            <a:off x="11279315" y="6334125"/>
            <a:ext cx="51892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75B60"/>
                </a:solidFill>
                <a:latin typeface="Helvetica Neue"/>
                <a:ea typeface="Helvetica Neue"/>
                <a:cs typeface="Helvetica Neue"/>
              </a:defRPr>
            </a:pPr>
            <a:r>
              <a:rPr sz="1650" b="0">
                <a:solidFill>
                  <a:srgbClr val="575B60"/>
                </a:solidFill>
                <a:latin typeface="Helvetica Neue"/>
                <a:ea typeface="Helvetica Neue"/>
                <a:cs typeface="Helvetica Neue"/>
              </a:rPr>
              <a:t>11</a:t>
            </a:r>
          </a:p>
        </p:txBody>
      </p:sp>
      <p:sp>
        <p:nvSpPr>
          <p:cNvPr id="3" name="closing-kicker">
            <a:extLst xmlns:a="http://schemas.openxmlformats.org/drawingml/2006/main">
              <a:ext uri="{FF2B5EF4-FFF2-40B4-BE49-F238E27FC236}">
                <a16:creationId xmlns:a16="http://schemas.microsoft.com/office/drawing/2014/main" id="{5C02707D-452F-4F94-826C-19D5809C971D}"/>
              </a:ext>
            </a:extLst>
          </p:cNvPr>
          <p:cNvSpPr>
            <a:spLocks xmlns:a="http://schemas.openxmlformats.org/drawingml/2006/main" noGrp="1"/>
          </p:cNvSpPr>
          <p:nvPr/>
        </p:nvSpPr>
        <p:spPr>
          <a:xfrm xmlns:a="http://schemas.openxmlformats.org/drawingml/2006/main">
            <a:off x="393668" y="39224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111"/>
                </a:solidFill>
                <a:latin typeface="Helvetica Neue"/>
                <a:ea typeface="Helvetica Neue"/>
                <a:cs typeface="Helvetica Neue"/>
              </a:defRPr>
            </a:pPr>
            <a:r>
              <a:rPr sz="2400" b="0">
                <a:solidFill>
                  <a:srgbClr val="111111"/>
                </a:solidFill>
                <a:latin typeface="Helvetica Neue"/>
                <a:ea typeface="Helvetica Neue"/>
                <a:cs typeface="Helvetica Neue"/>
              </a:rPr>
              <a:t>NEXT STEP · LIVE ACCEPTANCE</a:t>
            </a:r>
          </a:p>
        </p:txBody>
      </p:sp>
      <p:sp>
        <p:nvSpPr>
          <p:cNvPr id="4" name="closing-title">
            <a:extLst xmlns:a="http://schemas.openxmlformats.org/drawingml/2006/main">
              <a:ext uri="{FF2B5EF4-FFF2-40B4-BE49-F238E27FC236}">
                <a16:creationId xmlns:a16="http://schemas.microsoft.com/office/drawing/2014/main" id="{EB6CF52C-2C59-4338-B6BC-E0117601FF49}"/>
              </a:ext>
            </a:extLst>
          </p:cNvPr>
          <p:cNvSpPr>
            <a:spLocks xmlns:a="http://schemas.openxmlformats.org/drawingml/2006/main" noGrp="1"/>
          </p:cNvSpPr>
          <p:nvPr/>
        </p:nvSpPr>
        <p:spPr>
          <a:xfrm xmlns:a="http://schemas.openxmlformats.org/drawingml/2006/main">
            <a:off x="393668" y="1738789"/>
            <a:ext cx="104775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0" b="0">
                <a:solidFill>
                  <a:srgbClr val="111111"/>
                </a:solidFill>
                <a:latin typeface="Helvetica Neue"/>
                <a:ea typeface="Helvetica Neue"/>
                <a:cs typeface="Helvetica Neue"/>
              </a:defRPr>
            </a:pPr>
            <a:r>
              <a:rPr sz="6000" b="0">
                <a:solidFill>
                  <a:srgbClr val="111111"/>
                </a:solidFill>
                <a:latin typeface="Helvetica Neue"/>
                <a:ea typeface="Helvetica Neue"/>
                <a:cs typeface="Helvetica Neue"/>
              </a:rPr>
              <a:t>Ready for review.</a:t>
            </a:r>
          </a:p>
          <a:p xmlns:a="http://schemas.openxmlformats.org/drawingml/2006/main">
            <a:pPr algn="l">
              <a:defRPr sz="6000" b="0">
                <a:solidFill>
                  <a:srgbClr val="111111"/>
                </a:solidFill>
                <a:latin typeface="Helvetica Neue"/>
                <a:ea typeface="Helvetica Neue"/>
                <a:cs typeface="Helvetica Neue"/>
              </a:defRPr>
            </a:pPr>
            <a:r>
              <a:rPr sz="6000" b="0">
                <a:solidFill>
                  <a:srgbClr val="111111"/>
                </a:solidFill>
                <a:latin typeface="Helvetica Neue"/>
                <a:ea typeface="Helvetica Neue"/>
                <a:cs typeface="Helvetica Neue"/>
              </a:rPr>
              <a:t>Live acceptance next.</a:t>
            </a:r>
          </a:p>
        </p:txBody>
      </p:sp>
      <p:sp>
        <p:nvSpPr>
          <p:cNvPr id="5" name="closing-actions">
            <a:extLst xmlns:a="http://schemas.openxmlformats.org/drawingml/2006/main">
              <a:ext uri="{FF2B5EF4-FFF2-40B4-BE49-F238E27FC236}">
                <a16:creationId xmlns:a16="http://schemas.microsoft.com/office/drawing/2014/main" id="{DE66DD83-DC8F-47FF-A1B5-0CAA9B8582AF}"/>
              </a:ext>
            </a:extLst>
          </p:cNvPr>
          <p:cNvSpPr>
            <a:spLocks xmlns:a="http://schemas.openxmlformats.org/drawingml/2006/main" noGrp="1"/>
          </p:cNvSpPr>
          <p:nvPr/>
        </p:nvSpPr>
        <p:spPr>
          <a:xfrm xmlns:a="http://schemas.openxmlformats.org/drawingml/2006/main">
            <a:off x="393668" y="4742212"/>
            <a:ext cx="10477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1111"/>
                </a:solidFill>
                <a:latin typeface="Helvetica Neue"/>
                <a:ea typeface="Helvetica Neue"/>
                <a:cs typeface="Helvetica Neue"/>
              </a:defRPr>
            </a:pPr>
            <a:r>
              <a:rPr sz="2100" b="0">
                <a:solidFill>
                  <a:srgbClr val="111111"/>
                </a:solidFill>
                <a:latin typeface="Helvetica Neue"/>
                <a:ea typeface="Helvetica Neue"/>
                <a:cs typeface="Helvetica Neue"/>
              </a:rPr>
              <a:t>Confirm official data and review the PR.</a:t>
            </a:r>
          </a:p>
          <a:p xmlns:a="http://schemas.openxmlformats.org/drawingml/2006/main">
            <a:pPr algn="l">
              <a:defRPr sz="2100" b="0">
                <a:solidFill>
                  <a:srgbClr val="111111"/>
                </a:solidFill>
                <a:latin typeface="Helvetica Neue"/>
                <a:ea typeface="Helvetica Neue"/>
                <a:cs typeface="Helvetica Neue"/>
              </a:defRPr>
            </a:pPr>
            <a:r>
              <a:rPr sz="2100" b="0">
                <a:solidFill>
                  <a:srgbClr val="111111"/>
                </a:solidFill>
                <a:latin typeface="Helvetica Neue"/>
                <a:ea typeface="Helvetica Neue"/>
                <a:cs typeface="Helvetica Neue"/>
              </a:rPr>
              <a:t>Configure live hosting and SMTP.</a:t>
            </a:r>
          </a:p>
          <a:p xmlns:a="http://schemas.openxmlformats.org/drawingml/2006/main">
            <a:pPr algn="l">
              <a:defRPr sz="2100" b="0">
                <a:solidFill>
                  <a:srgbClr val="111111"/>
                </a:solidFill>
                <a:latin typeface="Helvetica Neue"/>
                <a:ea typeface="Helvetica Neue"/>
                <a:cs typeface="Helvetica Neue"/>
              </a:defRPr>
            </a:pPr>
            <a:r>
              <a:rPr sz="2100" b="0">
                <a:solidFill>
                  <a:srgbClr val="111111"/>
                </a:solidFill>
                <a:latin typeface="Helvetica Neue"/>
                <a:ea typeface="Helvetica Neue"/>
                <a:cs typeface="Helvetica Neue"/>
              </a:rPr>
              <a:t>Run deployed QA and record PO acceptance.</a:t>
            </a:r>
          </a:p>
        </p:txBody>
      </p:sp>
    </p:spTree>
    <p:extLst>
      <p:ext uri="{BB962C8B-B14F-4D97-AF65-F5344CB8AC3E}">
        <p14:creationId xmlns:p14="http://schemas.microsoft.com/office/powerpoint/2010/main" val="20423025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2026-10-29T18:06:07.6020000Z</dcterms:created>
  <dcterms:modified xsi:type="dcterms:W3CDTF">2026-10-29T18:06:07.6020000Z</dcterms:modified>
</coreProperties>
</file>